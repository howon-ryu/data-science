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1" r:id="rId6"/>
    <p:sldId id="264" r:id="rId7"/>
    <p:sldId id="295" r:id="rId8"/>
    <p:sldId id="296" r:id="rId9"/>
    <p:sldId id="298" r:id="rId10"/>
    <p:sldId id="299" r:id="rId11"/>
    <p:sldId id="278" r:id="rId12"/>
    <p:sldId id="289" r:id="rId13"/>
    <p:sldId id="300" r:id="rId1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만든 이" initials="오전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11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3C78EDB-4074-4B9C-8A23-C61DB2EAECBA}" type="datetime1">
              <a:rPr lang="ko-KR" altLang="en-US" smtClean="0">
                <a:latin typeface="+mj-ea"/>
                <a:ea typeface="+mj-ea"/>
              </a:rPr>
              <a:t>2022-03-06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94A59610-D21E-4772-A7BF-F2F26E543677}" type="datetime1">
              <a:rPr lang="ko-KR" altLang="en-US" smtClean="0"/>
              <a:pPr/>
              <a:t>2022-03-06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B9A9E5-4F7F-4A7D-9DE1-899232329269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52148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5178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3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02735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7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78687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8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1357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9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97687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타임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래픽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제목을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5" name="텍스트 개체 틀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6" name="텍스트 개체 틀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7" name="텍스트 개체 틀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직선 연결선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1" name="텍스트 개체 틀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2" name="텍스트 개체 틀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3" name="텍스트 개체 틀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연결선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소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나누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4" name="텍스트 개체 틀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날짜 개체 틀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바닥글 개체 틀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3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내용 개체 틀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내용 개체 틀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endParaRPr lang="ko-KR" altLang="en-US" noProof="0"/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내용 개체 틀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내용 2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래픽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제목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차트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차트 개체 틀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차트를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임라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7" name="텍스트 개체 틀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8" name="텍스트 개체 틀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0" name="텍스트 개체 틀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5" name="텍스트 개체 틀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9" name="텍스트 개체 틀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20" name="텍스트 개체 틀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1" name="텍스트 개체 틀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2" name="텍스트 개체 틀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3" name="텍스트 개체 틀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4" name="텍스트 개체 틀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5" name="텍스트 개체 틀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6" name="텍스트 개체 틀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8" name="텍스트 개체 틀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9" name="텍스트 개체 틀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7" name="텍스트 개체 틀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1" name="텍스트 개체 틀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날짜 개체 틀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바닥글 개체 틀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슬라이드 번호 개체 틀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7" name="SmartArt 개체 틀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en-US" altLang="ko-KR" noProof="0"/>
              <a:t>SmartArt </a:t>
            </a:r>
            <a:r>
              <a:rPr lang="ko-KR" altLang="en-US" noProof="0"/>
              <a:t>그래픽을 추가하려면 아이콘을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4명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pPr lvl="1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8명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5" name="그림 개체 틀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4" name="텍스트 개체 틀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2" name="텍스트 개체 틀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6" name="그림 개체 틀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3" name="텍스트 개체 틀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7" name="그림 개체 틀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60" name="텍스트 개체 틀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4" name="텍스트 개체 틀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8" name="그림 개체 틀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61" name="텍스트 개체 틀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5" name="텍스트 개체 틀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금 조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4" name="내용 개체 틀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5" name="내용 개체 틀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6" name="내용 개체 틀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마무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8815" y="4037007"/>
            <a:ext cx="6268227" cy="1416363"/>
          </a:xfrm>
        </p:spPr>
        <p:txBody>
          <a:bodyPr rtlCol="0"/>
          <a:lstStyle/>
          <a:p>
            <a:pPr algn="r" rtl="0"/>
            <a:r>
              <a:rPr lang="en-US" altLang="ko-KR" dirty="0"/>
              <a:t>01</a:t>
            </a:r>
            <a:r>
              <a:rPr lang="ko-KR" altLang="en-US" dirty="0"/>
              <a:t>주차 과제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선호 정당 예측하기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57042"/>
            <a:ext cx="4941770" cy="396660"/>
          </a:xfrm>
        </p:spPr>
        <p:txBody>
          <a:bodyPr rtlCol="0"/>
          <a:lstStyle/>
          <a:p>
            <a:pPr algn="r" rtl="0"/>
            <a:r>
              <a:rPr lang="en-US" altLang="ko-KR" dirty="0"/>
              <a:t>2018125020</a:t>
            </a:r>
            <a:r>
              <a:rPr lang="ko-KR" altLang="en-US" dirty="0"/>
              <a:t>류호원</a:t>
            </a:r>
            <a:r>
              <a:rPr lang="en-US" altLang="ko-KR" dirty="0"/>
              <a:t>(</a:t>
            </a:r>
            <a:r>
              <a:rPr lang="ko-KR" altLang="en-US" dirty="0"/>
              <a:t>소프트웨어학과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574675"/>
            <a:ext cx="4082142" cy="585788"/>
          </a:xfrm>
        </p:spPr>
        <p:txBody>
          <a:bodyPr rtlCol="0"/>
          <a:lstStyle/>
          <a:p>
            <a:pPr rtl="0"/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2914" y="1222795"/>
            <a:ext cx="2323949" cy="11921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altLang="ko-KR" dirty="0"/>
              <a:t>1.</a:t>
            </a:r>
            <a:r>
              <a:rPr lang="ko-KR" altLang="en-US" dirty="0"/>
              <a:t>투표자 </a:t>
            </a:r>
            <a:endParaRPr lang="en-US" altLang="ko-KR" dirty="0"/>
          </a:p>
          <a:p>
            <a:pPr rtl="0"/>
            <a:r>
              <a:rPr lang="ko-KR" altLang="en-US" dirty="0"/>
              <a:t>예측변수 만들기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en-US" altLang="ko-KR" dirty="0"/>
              <a:t>2.</a:t>
            </a:r>
            <a:r>
              <a:rPr lang="ko-KR" altLang="en-US" dirty="0"/>
              <a:t>패턴 만들기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pPr rtl="0"/>
            <a:r>
              <a:rPr lang="en-US" altLang="ko-KR" dirty="0"/>
              <a:t>3.</a:t>
            </a:r>
            <a:r>
              <a:rPr lang="ko-KR" altLang="en-US" dirty="0"/>
              <a:t>패턴에 따른 목표변수 생성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pPr rtl="0"/>
            <a:r>
              <a:rPr lang="en-US" altLang="ko-KR" dirty="0"/>
              <a:t>4.</a:t>
            </a:r>
            <a:r>
              <a:rPr lang="ko-KR" altLang="en-US" dirty="0"/>
              <a:t>결과 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77735" y="1313469"/>
            <a:ext cx="5539095" cy="1010842"/>
          </a:xfrm>
        </p:spPr>
        <p:txBody>
          <a:bodyPr rtlCol="0"/>
          <a:lstStyle/>
          <a:p>
            <a:pPr rtl="0"/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ko-KR" altLang="en-US" dirty="0" err="1"/>
              <a:t>얘측</a:t>
            </a:r>
            <a:r>
              <a:rPr lang="ko-KR" altLang="en-US" dirty="0"/>
              <a:t> 변수 생성</a:t>
            </a:r>
            <a:r>
              <a:rPr lang="en-US" altLang="ko-KR" dirty="0"/>
              <a:t>(</a:t>
            </a:r>
            <a:r>
              <a:rPr lang="ko-KR" altLang="en-US" dirty="0"/>
              <a:t>학력 선호도</a:t>
            </a:r>
            <a:r>
              <a:rPr lang="en-US" altLang="ko-KR" dirty="0"/>
              <a:t>, </a:t>
            </a:r>
            <a:r>
              <a:rPr lang="ko-KR" altLang="en-US" dirty="0"/>
              <a:t>지역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수입</a:t>
            </a:r>
            <a:r>
              <a:rPr lang="en-US" altLang="ko-KR" dirty="0"/>
              <a:t>)</a:t>
            </a:r>
          </a:p>
          <a:p>
            <a:pPr rtl="0"/>
            <a:r>
              <a:rPr lang="ko-KR" altLang="en-US" dirty="0"/>
              <a:t>목표변수는 </a:t>
            </a:r>
            <a:r>
              <a:rPr lang="en-US" altLang="ko-KR" dirty="0"/>
              <a:t>‘[</a:t>
            </a:r>
            <a:r>
              <a:rPr lang="ko-KR" altLang="en-US" dirty="0"/>
              <a:t>보수당 투표</a:t>
            </a:r>
            <a:r>
              <a:rPr lang="en-US" altLang="ko-KR" dirty="0"/>
              <a:t>,</a:t>
            </a:r>
            <a:r>
              <a:rPr lang="ko-KR" altLang="en-US" dirty="0"/>
              <a:t>민주당 투표</a:t>
            </a:r>
            <a:r>
              <a:rPr lang="en-US" altLang="ko-KR" dirty="0"/>
              <a:t>] </a:t>
            </a:r>
            <a:r>
              <a:rPr lang="ko-KR" altLang="en-US" dirty="0"/>
              <a:t>중 하나 선택</a:t>
            </a:r>
            <a:r>
              <a:rPr lang="en-US" altLang="ko-KR" dirty="0"/>
              <a:t>’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 rtl="0"/>
            <a:r>
              <a:rPr lang="ko-KR" altLang="en-US" dirty="0"/>
              <a:t>위를 토대로 </a:t>
            </a:r>
            <a:r>
              <a:rPr lang="en-US" altLang="ko-KR" dirty="0"/>
              <a:t>10</a:t>
            </a:r>
            <a:r>
              <a:rPr lang="ko-KR" altLang="en-US" dirty="0"/>
              <a:t>명의 투표자 데이터 프레임 생성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73328"/>
            <a:ext cx="5539095" cy="1010842"/>
          </a:xfrm>
        </p:spPr>
        <p:txBody>
          <a:bodyPr rtlCol="0"/>
          <a:lstStyle/>
          <a:p>
            <a:pPr rtl="0"/>
            <a:r>
              <a:rPr lang="ko-KR" altLang="en-US" dirty="0"/>
              <a:t>예측변수인 </a:t>
            </a:r>
            <a:r>
              <a:rPr lang="en-US" altLang="ko-KR" dirty="0"/>
              <a:t>‘</a:t>
            </a:r>
            <a:r>
              <a:rPr lang="ko-KR" altLang="en-US" dirty="0"/>
              <a:t>학력 선호도</a:t>
            </a:r>
            <a:r>
              <a:rPr lang="en-US" altLang="ko-KR" dirty="0"/>
              <a:t>’, ‘</a:t>
            </a:r>
            <a:r>
              <a:rPr lang="ko-KR" altLang="en-US" dirty="0"/>
              <a:t>지역</a:t>
            </a:r>
            <a:r>
              <a:rPr lang="en-US" altLang="ko-KR" dirty="0"/>
              <a:t>’, ‘</a:t>
            </a:r>
            <a:r>
              <a:rPr lang="ko-KR" altLang="en-US" dirty="0"/>
              <a:t>나이</a:t>
            </a:r>
            <a:r>
              <a:rPr lang="en-US" altLang="ko-KR" dirty="0"/>
              <a:t>’, ‘</a:t>
            </a:r>
            <a:r>
              <a:rPr lang="ko-KR" altLang="en-US" dirty="0"/>
              <a:t>수입</a:t>
            </a:r>
            <a:r>
              <a:rPr lang="en-US" altLang="ko-KR" dirty="0"/>
              <a:t>’</a:t>
            </a:r>
            <a:r>
              <a:rPr lang="ko-KR" altLang="en-US" dirty="0"/>
              <a:t>에 따라서 보수정당과 민주정당 중 하나를 선택하는 패턴을 생성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2453" y="3633788"/>
            <a:ext cx="5539095" cy="1010842"/>
          </a:xfrm>
        </p:spPr>
        <p:txBody>
          <a:bodyPr rtlCol="0"/>
          <a:lstStyle/>
          <a:p>
            <a:pPr rtl="0"/>
            <a:r>
              <a:rPr lang="en-US" altLang="ko-KR" dirty="0"/>
              <a:t>1</a:t>
            </a:r>
            <a:r>
              <a:rPr lang="ko-KR" altLang="en-US" dirty="0"/>
              <a:t>번에서 만든 데이터 프레임과 </a:t>
            </a:r>
            <a:r>
              <a:rPr lang="en-US" altLang="ko-KR" dirty="0"/>
              <a:t>2</a:t>
            </a:r>
            <a:r>
              <a:rPr lang="ko-KR" altLang="en-US" dirty="0"/>
              <a:t>번에서 만든 </a:t>
            </a:r>
            <a:r>
              <a:rPr lang="ko-KR" altLang="en-US" dirty="0" err="1"/>
              <a:t>페턴을</a:t>
            </a:r>
            <a:r>
              <a:rPr lang="ko-KR" altLang="en-US" dirty="0"/>
              <a:t> 근거로 </a:t>
            </a:r>
            <a:r>
              <a:rPr lang="en-US" altLang="ko-KR" dirty="0"/>
              <a:t>10*1 </a:t>
            </a:r>
            <a:r>
              <a:rPr lang="ko-KR" altLang="en-US" dirty="0"/>
              <a:t>크기의 목표변수 데이터 프레임 생성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pPr rtl="0"/>
            <a:r>
              <a:rPr lang="en-US" altLang="ko-KR" dirty="0"/>
              <a:t>1</a:t>
            </a:r>
            <a:r>
              <a:rPr lang="ko-KR" altLang="en-US" dirty="0"/>
              <a:t>번의 투표자 데이터 프레임과 </a:t>
            </a:r>
            <a:r>
              <a:rPr lang="en-US" altLang="ko-KR" dirty="0"/>
              <a:t>3</a:t>
            </a:r>
            <a:r>
              <a:rPr lang="ko-KR" altLang="en-US" dirty="0"/>
              <a:t>번의 목표변수 프레임을 합쳐서 최종 데이터 프레임을 형성하고 정확도를 계산</a:t>
            </a:r>
          </a:p>
          <a:p>
            <a:pPr rtl="0"/>
            <a:endParaRPr lang="ko-KR" altLang="en-US" dirty="0"/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80" name="바닥글 개체 틀 79">
            <a:extLst>
              <a:ext uri="{FF2B5EF4-FFF2-40B4-BE49-F238E27FC236}">
                <a16:creationId xmlns:a16="http://schemas.microsoft.com/office/drawing/2014/main" id="{81398ED2-66DB-46EA-8D89-B07A5C03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/>
          <a:p>
            <a:pPr rtl="0"/>
            <a:r>
              <a:rPr lang="ko-KR" altLang="en-US"/>
              <a:t>설명 자료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7561"/>
            <a:ext cx="5111750" cy="609601"/>
          </a:xfrm>
        </p:spPr>
        <p:txBody>
          <a:bodyPr rtlCol="0"/>
          <a:lstStyle/>
          <a:p>
            <a:pPr rtl="0"/>
            <a:r>
              <a:rPr lang="en-US" altLang="ko-KR" dirty="0"/>
              <a:t>1.</a:t>
            </a:r>
            <a:r>
              <a:rPr lang="ko-KR" altLang="en-US" dirty="0"/>
              <a:t> 투표자 예측변수 만들기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49474"/>
            <a:ext cx="5111750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US" altLang="ko-KR" noProof="1"/>
              <a:t>‘</a:t>
            </a:r>
            <a:r>
              <a:rPr lang="ko-KR" altLang="en-US" noProof="1"/>
              <a:t>학력 선호도</a:t>
            </a:r>
            <a:r>
              <a:rPr lang="en-US" altLang="ko-KR" noProof="1"/>
              <a:t>’ – </a:t>
            </a:r>
            <a:r>
              <a:rPr lang="ko-KR" altLang="en-US" noProof="1"/>
              <a:t>명목형</a:t>
            </a:r>
            <a:r>
              <a:rPr lang="en-US" altLang="ko-KR" noProof="1"/>
              <a:t>(o/x)</a:t>
            </a:r>
          </a:p>
          <a:p>
            <a:pPr rtl="0"/>
            <a:r>
              <a:rPr lang="en-US" altLang="ko-KR" noProof="1"/>
              <a:t>‘</a:t>
            </a:r>
            <a:r>
              <a:rPr lang="ko-KR" altLang="en-US" noProof="1"/>
              <a:t>지역</a:t>
            </a:r>
            <a:r>
              <a:rPr lang="en-US" altLang="ko-KR" noProof="1"/>
              <a:t>’ – </a:t>
            </a:r>
            <a:r>
              <a:rPr lang="ko-KR" altLang="en-US" noProof="1"/>
              <a:t>명목형</a:t>
            </a:r>
            <a:endParaRPr lang="en-US" altLang="ko-KR" noProof="1"/>
          </a:p>
          <a:p>
            <a:pPr rtl="0"/>
            <a:r>
              <a:rPr lang="en-US" altLang="ko-KR" noProof="1"/>
              <a:t>‘</a:t>
            </a:r>
            <a:r>
              <a:rPr lang="ko-KR" altLang="en-US" noProof="1"/>
              <a:t>나이</a:t>
            </a:r>
            <a:r>
              <a:rPr lang="en-US" altLang="ko-KR" noProof="1"/>
              <a:t>’ – </a:t>
            </a:r>
            <a:r>
              <a:rPr lang="ko-KR" altLang="en-US" noProof="1"/>
              <a:t>수치형</a:t>
            </a:r>
            <a:endParaRPr lang="en-US" altLang="ko-KR" noProof="1"/>
          </a:p>
          <a:p>
            <a:pPr rtl="0"/>
            <a:r>
              <a:rPr lang="en-US" altLang="ko-KR" noProof="1"/>
              <a:t>‘</a:t>
            </a:r>
            <a:r>
              <a:rPr lang="ko-KR" altLang="en-US" noProof="1"/>
              <a:t>수입</a:t>
            </a:r>
            <a:r>
              <a:rPr lang="en-US" altLang="ko-KR" noProof="1"/>
              <a:t>’ – </a:t>
            </a:r>
            <a:r>
              <a:rPr lang="ko-KR" altLang="en-US" noProof="1"/>
              <a:t>명목형</a:t>
            </a:r>
            <a:r>
              <a:rPr lang="en-US" altLang="ko-KR" noProof="1"/>
              <a:t>(</a:t>
            </a:r>
            <a:r>
              <a:rPr lang="ko-KR" altLang="en-US" noProof="1"/>
              <a:t>편의를 위해 명목형으로 설정</a:t>
            </a:r>
            <a:r>
              <a:rPr lang="en-US" altLang="ko-KR" noProof="1"/>
              <a:t>)</a:t>
            </a:r>
            <a:endParaRPr lang="ko-KR" altLang="en-US" noProof="1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/>
          <a:p>
            <a:pPr rtl="0"/>
            <a:r>
              <a:rPr lang="ko-KR" altLang="en-US"/>
              <a:t>설명 자료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3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B081EB-A233-4577-8288-994E8DF32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36974"/>
            <a:ext cx="5585372" cy="15255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C7773DA-DF4B-467B-B323-63DB0E880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587" y="3305174"/>
            <a:ext cx="4384661" cy="19573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1EC826-97DA-494F-9D2A-3596D4E216CB}"/>
              </a:ext>
            </a:extLst>
          </p:cNvPr>
          <p:cNvSpPr txBox="1"/>
          <p:nvPr/>
        </p:nvSpPr>
        <p:spPr>
          <a:xfrm>
            <a:off x="2232025" y="5447784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투표자 예측변수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EFEDA-8E93-4509-B84E-351DDE245AF0}"/>
              </a:ext>
            </a:extLst>
          </p:cNvPr>
          <p:cNvSpPr txBox="1"/>
          <p:nvPr/>
        </p:nvSpPr>
        <p:spPr>
          <a:xfrm>
            <a:off x="8397867" y="5332412"/>
            <a:ext cx="232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        </a:t>
            </a:r>
            <a:r>
              <a:rPr lang="ko-KR" altLang="en-US" dirty="0"/>
              <a:t>예측변수       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      데이터 프레임   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E02E4-7C3A-4587-95D8-3DE00E48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38" y="382585"/>
            <a:ext cx="4576762" cy="1408113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패턴 만들기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A1DFF5-BE97-4445-809F-C1376E9AC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838" y="1978818"/>
            <a:ext cx="8386762" cy="2020888"/>
          </a:xfrm>
        </p:spPr>
        <p:txBody>
          <a:bodyPr>
            <a:normAutofit/>
          </a:bodyPr>
          <a:lstStyle/>
          <a:p>
            <a:r>
              <a:rPr lang="ko-KR" altLang="en-US" dirty="0"/>
              <a:t>패턴</a:t>
            </a:r>
            <a:r>
              <a:rPr lang="en-US" altLang="ko-KR" dirty="0"/>
              <a:t>1 : </a:t>
            </a:r>
            <a:r>
              <a:rPr lang="ko-KR" altLang="en-US" dirty="0"/>
              <a:t>나이가 </a:t>
            </a:r>
            <a:r>
              <a:rPr lang="en-US" altLang="ko-KR" dirty="0"/>
              <a:t>40</a:t>
            </a:r>
            <a:r>
              <a:rPr lang="ko-KR" altLang="en-US" dirty="0"/>
              <a:t>보다 많으며</a:t>
            </a:r>
            <a:r>
              <a:rPr lang="en-US" altLang="ko-KR" dirty="0"/>
              <a:t>,</a:t>
            </a:r>
            <a:r>
              <a:rPr lang="ko-KR" altLang="en-US" dirty="0"/>
              <a:t> 수입이 </a:t>
            </a:r>
            <a:r>
              <a:rPr lang="en-US" altLang="ko-KR" dirty="0"/>
              <a:t>”</a:t>
            </a:r>
            <a:r>
              <a:rPr lang="ko-KR" altLang="en-US" dirty="0"/>
              <a:t>높음</a:t>
            </a:r>
            <a:r>
              <a:rPr lang="en-US" altLang="ko-KR" dirty="0"/>
              <a:t>“</a:t>
            </a:r>
            <a:r>
              <a:rPr lang="ko-KR" altLang="en-US" dirty="0"/>
              <a:t>인 경우 보수 정당을 투표함</a:t>
            </a:r>
            <a:endParaRPr lang="en-US" altLang="ko-KR" dirty="0"/>
          </a:p>
          <a:p>
            <a:r>
              <a:rPr lang="ko-KR" altLang="en-US" dirty="0"/>
              <a:t>패턴</a:t>
            </a:r>
            <a:r>
              <a:rPr lang="en-US" altLang="ko-KR" dirty="0"/>
              <a:t>2 : </a:t>
            </a:r>
            <a:r>
              <a:rPr lang="ko-KR" altLang="en-US" dirty="0"/>
              <a:t>나이가 </a:t>
            </a:r>
            <a:r>
              <a:rPr lang="en-US" altLang="ko-KR" dirty="0"/>
              <a:t>40</a:t>
            </a:r>
            <a:r>
              <a:rPr lang="ko-KR" altLang="en-US" dirty="0"/>
              <a:t>보다 적으며</a:t>
            </a:r>
            <a:r>
              <a:rPr lang="en-US" altLang="ko-KR" dirty="0"/>
              <a:t>, “</a:t>
            </a:r>
            <a:r>
              <a:rPr lang="ko-KR" altLang="en-US" dirty="0"/>
              <a:t>광주</a:t>
            </a:r>
            <a:r>
              <a:rPr lang="en-US" altLang="ko-KR" dirty="0"/>
              <a:t>”</a:t>
            </a:r>
            <a:r>
              <a:rPr lang="ko-KR" altLang="en-US" dirty="0"/>
              <a:t>나 </a:t>
            </a:r>
            <a:r>
              <a:rPr lang="en-US" altLang="ko-KR" dirty="0"/>
              <a:t>“</a:t>
            </a:r>
            <a:r>
              <a:rPr lang="ko-KR" altLang="en-US" dirty="0"/>
              <a:t>호남</a:t>
            </a:r>
            <a:r>
              <a:rPr lang="en-US" altLang="ko-KR" dirty="0"/>
              <a:t>”</a:t>
            </a:r>
            <a:r>
              <a:rPr lang="ko-KR" altLang="en-US" dirty="0"/>
              <a:t>에 거주하는 경우 민주 정당을 투표함</a:t>
            </a:r>
            <a:endParaRPr lang="en-US" altLang="ko-KR" dirty="0"/>
          </a:p>
          <a:p>
            <a:r>
              <a:rPr lang="ko-KR" altLang="en-US" dirty="0"/>
              <a:t>패턴</a:t>
            </a:r>
            <a:r>
              <a:rPr lang="en-US" altLang="ko-KR" dirty="0"/>
              <a:t>3 : </a:t>
            </a:r>
            <a:r>
              <a:rPr lang="ko-KR" altLang="en-US" dirty="0"/>
              <a:t>수입이 </a:t>
            </a:r>
            <a:r>
              <a:rPr lang="en-US" altLang="ko-KR" dirty="0"/>
              <a:t>“</a:t>
            </a:r>
            <a:r>
              <a:rPr lang="ko-KR" altLang="en-US" dirty="0"/>
              <a:t>높음</a:t>
            </a:r>
            <a:r>
              <a:rPr lang="en-US" altLang="ko-KR" dirty="0"/>
              <a:t>”</a:t>
            </a:r>
            <a:r>
              <a:rPr lang="ko-KR" altLang="en-US" dirty="0"/>
              <a:t>이며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/>
              <a:t>경북</a:t>
            </a:r>
            <a:r>
              <a:rPr lang="en-US" altLang="ko-KR" dirty="0"/>
              <a:t>”</a:t>
            </a:r>
            <a:r>
              <a:rPr lang="ko-KR" altLang="en-US" dirty="0"/>
              <a:t>이나 </a:t>
            </a:r>
            <a:r>
              <a:rPr lang="en-US" altLang="ko-KR" dirty="0"/>
              <a:t>“</a:t>
            </a:r>
            <a:r>
              <a:rPr lang="ko-KR" altLang="en-US" dirty="0"/>
              <a:t>대구</a:t>
            </a:r>
            <a:r>
              <a:rPr lang="en-US" altLang="ko-KR" dirty="0"/>
              <a:t>”</a:t>
            </a:r>
            <a:r>
              <a:rPr lang="ko-KR" altLang="en-US" dirty="0"/>
              <a:t>에 거주하는 경우 보수 정당을 투표함</a:t>
            </a:r>
            <a:endParaRPr lang="en-US" altLang="ko-KR" dirty="0"/>
          </a:p>
          <a:p>
            <a:r>
              <a:rPr lang="ko-KR" altLang="en-US" dirty="0"/>
              <a:t>패턴</a:t>
            </a:r>
            <a:r>
              <a:rPr lang="en-US" altLang="ko-KR" dirty="0"/>
              <a:t>4 : </a:t>
            </a:r>
            <a:r>
              <a:rPr lang="ko-KR" altLang="en-US" dirty="0"/>
              <a:t>높은 학력을 선호하지 않으며</a:t>
            </a:r>
            <a:r>
              <a:rPr lang="en-US" altLang="ko-KR" dirty="0"/>
              <a:t>, </a:t>
            </a:r>
            <a:r>
              <a:rPr lang="ko-KR" altLang="en-US" dirty="0"/>
              <a:t>나이가 </a:t>
            </a:r>
            <a:r>
              <a:rPr lang="en-US" altLang="ko-KR" dirty="0"/>
              <a:t>26</a:t>
            </a:r>
            <a:r>
              <a:rPr lang="ko-KR" altLang="en-US" dirty="0"/>
              <a:t>살 보다 적은 경우 민주 정당을 투표함</a:t>
            </a:r>
            <a:endParaRPr lang="en-US" altLang="ko-KR" dirty="0"/>
          </a:p>
          <a:p>
            <a:r>
              <a:rPr lang="ko-KR" altLang="en-US" dirty="0"/>
              <a:t>패턴 </a:t>
            </a:r>
            <a:r>
              <a:rPr lang="en-US" altLang="ko-KR" dirty="0"/>
              <a:t>5 : </a:t>
            </a:r>
            <a:r>
              <a:rPr lang="ko-KR" altLang="en-US" dirty="0"/>
              <a:t>높은 학력을 선호하지 않으며</a:t>
            </a:r>
            <a:r>
              <a:rPr lang="en-US" altLang="ko-KR" dirty="0"/>
              <a:t>, </a:t>
            </a:r>
            <a:r>
              <a:rPr lang="ko-KR" altLang="en-US" dirty="0"/>
              <a:t>수입이 낮고</a:t>
            </a:r>
            <a:r>
              <a:rPr lang="en-US" altLang="ko-KR" dirty="0"/>
              <a:t>, </a:t>
            </a:r>
            <a:r>
              <a:rPr lang="ko-KR" altLang="en-US" dirty="0"/>
              <a:t>나이가 </a:t>
            </a:r>
            <a:r>
              <a:rPr lang="en-US" altLang="ko-KR" dirty="0"/>
              <a:t>50</a:t>
            </a:r>
            <a:r>
              <a:rPr lang="ko-KR" altLang="en-US" dirty="0"/>
              <a:t>보다 적은 경우 민주 정당을 투표함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34126D-B1BF-4A80-8686-EB8A72FF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BAFAC6-A770-4814-B974-31F9166A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2B866C-3B74-4C61-9CAB-FDD5C555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4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4E1CA6-1FEE-4197-ACE7-A30BE6114C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32"/>
          <a:stretch/>
        </p:blipFill>
        <p:spPr>
          <a:xfrm>
            <a:off x="790575" y="4294981"/>
            <a:ext cx="5581650" cy="1409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E0CF7B-3EE8-497D-BB81-1EB167C2E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087" y="3999706"/>
            <a:ext cx="1152525" cy="17049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B3D6AB-3F8D-4E19-A4BA-C59B8B2EEB11}"/>
              </a:ext>
            </a:extLst>
          </p:cNvPr>
          <p:cNvSpPr txBox="1"/>
          <p:nvPr/>
        </p:nvSpPr>
        <p:spPr>
          <a:xfrm>
            <a:off x="3026569" y="5987018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1&gt;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6B9F3-B519-4BCE-807A-BB0C43BE0F0C}"/>
              </a:ext>
            </a:extLst>
          </p:cNvPr>
          <p:cNvSpPr txBox="1"/>
          <p:nvPr/>
        </p:nvSpPr>
        <p:spPr>
          <a:xfrm>
            <a:off x="9208293" y="598701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1 </a:t>
            </a:r>
            <a:r>
              <a:rPr lang="ko-KR" altLang="en-US" dirty="0"/>
              <a:t>결과 목표변수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7547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5ECBA-AFC8-4F78-B4B2-8A669E1B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722311"/>
            <a:ext cx="3095625" cy="628651"/>
          </a:xfrm>
        </p:spPr>
        <p:txBody>
          <a:bodyPr/>
          <a:lstStyle/>
          <a:p>
            <a:r>
              <a:rPr lang="en-US" altLang="ko-KR"/>
              <a:t>2. </a:t>
            </a:r>
            <a:r>
              <a:rPr lang="ko-KR" altLang="en-US" dirty="0"/>
              <a:t>패턴 만들기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0CB92-9E24-4B4C-A4E0-2E89CDE7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5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77DDBA-0028-484A-BB9E-95610FF4B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766889"/>
            <a:ext cx="8124825" cy="19083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1DB943-D9CE-4057-8CCF-C1F891F39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0" y="1766890"/>
            <a:ext cx="1123950" cy="19083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77FE2B-50BA-4979-ABE4-BD9D899AF5B6}"/>
              </a:ext>
            </a:extLst>
          </p:cNvPr>
          <p:cNvSpPr txBox="1"/>
          <p:nvPr/>
        </p:nvSpPr>
        <p:spPr>
          <a:xfrm>
            <a:off x="3752850" y="379678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2&gt;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50B64-635F-4A28-810A-E7AA126603A0}"/>
              </a:ext>
            </a:extLst>
          </p:cNvPr>
          <p:cNvSpPr txBox="1"/>
          <p:nvPr/>
        </p:nvSpPr>
        <p:spPr>
          <a:xfrm>
            <a:off x="9658350" y="383488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1+</a:t>
            </a:r>
            <a:r>
              <a:rPr lang="ko-KR" altLang="en-US" dirty="0"/>
              <a:t>패턴</a:t>
            </a:r>
            <a:r>
              <a:rPr lang="en-US" altLang="ko-KR" dirty="0"/>
              <a:t>2 </a:t>
            </a:r>
            <a:r>
              <a:rPr lang="ko-KR" altLang="en-US" dirty="0"/>
              <a:t>결과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D0E4B25-A40D-4C22-BF04-6C26B52D9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346833"/>
            <a:ext cx="8124825" cy="18288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8BD1FDA-A657-469E-84E9-19527A4D5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308" y="4346833"/>
            <a:ext cx="1043492" cy="1828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92CB34-9678-4D93-896F-D16D7CDC90D9}"/>
              </a:ext>
            </a:extLst>
          </p:cNvPr>
          <p:cNvSpPr txBox="1"/>
          <p:nvPr/>
        </p:nvSpPr>
        <p:spPr>
          <a:xfrm>
            <a:off x="3752850" y="621373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3&gt;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E3717E-56F9-47AF-A2AA-DFF1AE75207D}"/>
              </a:ext>
            </a:extLst>
          </p:cNvPr>
          <p:cNvSpPr txBox="1"/>
          <p:nvPr/>
        </p:nvSpPr>
        <p:spPr>
          <a:xfrm>
            <a:off x="9982200" y="627088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1~3 </a:t>
            </a:r>
            <a:r>
              <a:rPr lang="ko-KR" altLang="en-US" dirty="0"/>
              <a:t>결과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94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5ECBA-AFC8-4F78-B4B2-8A669E1B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722311"/>
            <a:ext cx="3095625" cy="628651"/>
          </a:xfrm>
        </p:spPr>
        <p:txBody>
          <a:bodyPr/>
          <a:lstStyle/>
          <a:p>
            <a:r>
              <a:rPr lang="en-US" altLang="ko-KR"/>
              <a:t>2. </a:t>
            </a:r>
            <a:r>
              <a:rPr lang="ko-KR" altLang="en-US" dirty="0"/>
              <a:t>패턴 만들기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0CB92-9E24-4B4C-A4E0-2E89CDE7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6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7FE2B-50BA-4979-ABE4-BD9D899AF5B6}"/>
              </a:ext>
            </a:extLst>
          </p:cNvPr>
          <p:cNvSpPr txBox="1"/>
          <p:nvPr/>
        </p:nvSpPr>
        <p:spPr>
          <a:xfrm>
            <a:off x="3752850" y="379678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4&gt;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50B64-635F-4A28-810A-E7AA126603A0}"/>
              </a:ext>
            </a:extLst>
          </p:cNvPr>
          <p:cNvSpPr txBox="1"/>
          <p:nvPr/>
        </p:nvSpPr>
        <p:spPr>
          <a:xfrm>
            <a:off x="9982200" y="374521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1~4 </a:t>
            </a:r>
            <a:r>
              <a:rPr lang="ko-KR" altLang="en-US" dirty="0"/>
              <a:t>결과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92CB34-9678-4D93-896F-D16D7CDC90D9}"/>
              </a:ext>
            </a:extLst>
          </p:cNvPr>
          <p:cNvSpPr txBox="1"/>
          <p:nvPr/>
        </p:nvSpPr>
        <p:spPr>
          <a:xfrm>
            <a:off x="3752850" y="621373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5&gt;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E3717E-56F9-47AF-A2AA-DFF1AE75207D}"/>
              </a:ext>
            </a:extLst>
          </p:cNvPr>
          <p:cNvSpPr txBox="1"/>
          <p:nvPr/>
        </p:nvSpPr>
        <p:spPr>
          <a:xfrm>
            <a:off x="9982200" y="627088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</a:t>
            </a:r>
            <a:r>
              <a:rPr lang="en-US" altLang="ko-KR" dirty="0"/>
              <a:t>1~5 </a:t>
            </a:r>
            <a:r>
              <a:rPr lang="ko-KR" altLang="en-US" dirty="0"/>
              <a:t>결과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ED54F4-50D3-4328-80A1-B53B9C7C8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749167"/>
            <a:ext cx="6915150" cy="1866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A56D85-1278-4C4C-9A35-1B0D0DB25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660267"/>
            <a:ext cx="1091888" cy="19558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57B539-A2B2-4C85-993D-8909D0714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346833"/>
            <a:ext cx="9001125" cy="18669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0B0D76C-A7A4-4504-BB36-F228AD5C1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6050" y="4243684"/>
            <a:ext cx="1091888" cy="197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94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409" y="729235"/>
            <a:ext cx="3303241" cy="1004315"/>
          </a:xfrm>
        </p:spPr>
        <p:txBody>
          <a:bodyPr rtlCol="0">
            <a:normAutofit/>
          </a:bodyPr>
          <a:lstStyle/>
          <a:p>
            <a:pPr rtl="0"/>
            <a:r>
              <a:rPr lang="en-US" altLang="ko" dirty="0"/>
              <a:t>3. </a:t>
            </a:r>
            <a:r>
              <a:rPr lang="ko-KR" altLang="en-US" dirty="0"/>
              <a:t>패턴에 따른 </a:t>
            </a:r>
            <a:br>
              <a:rPr lang="en-US" altLang="ko-KR" dirty="0"/>
            </a:br>
            <a:r>
              <a:rPr lang="ko-KR" altLang="en-US" dirty="0"/>
              <a:t>목표 변수 생성</a:t>
            </a:r>
            <a:r>
              <a:rPr lang="en-US" altLang="ko" dirty="0"/>
              <a:t> </a:t>
            </a:r>
            <a:endParaRPr lang="ko" dirty="0"/>
          </a:p>
        </p:txBody>
      </p:sp>
      <p:sp>
        <p:nvSpPr>
          <p:cNvPr id="32" name="날짜 개체 틀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ko"/>
              <a:t>20XX년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ko" dirty="0"/>
              <a:t>설명 자료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smtClean="0"/>
              <a:pPr rtl="0"/>
              <a:t>7</a:t>
            </a:fld>
            <a:endParaRPr lang="en-ZA" dirty="0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13CB5221-B96C-46E8-A257-5838F622A1E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3409" y="5396967"/>
            <a:ext cx="2079172" cy="365125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패턴들에 따른 </a:t>
            </a:r>
            <a:r>
              <a:rPr lang="ko-KR" altLang="en-US" dirty="0" err="1"/>
              <a:t>결측치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B8C0E17-4783-43FC-97DE-FDAE189F3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28" y="2866981"/>
            <a:ext cx="1332534" cy="203996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FF72DDE-94DC-4BF7-B2DB-909EB916B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1555" y="2936006"/>
            <a:ext cx="4562804" cy="143431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0314133-16EF-4051-8653-92E0E8B75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026" y="2797397"/>
            <a:ext cx="1332534" cy="210954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34B1313-E906-4522-B94F-33928110901D}"/>
              </a:ext>
            </a:extLst>
          </p:cNvPr>
          <p:cNvSpPr txBox="1"/>
          <p:nvPr/>
        </p:nvSpPr>
        <p:spPr>
          <a:xfrm>
            <a:off x="4038600" y="4999297"/>
            <a:ext cx="411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패턴으로 </a:t>
            </a:r>
            <a:r>
              <a:rPr lang="ko-KR" altLang="en-US" dirty="0" err="1"/>
              <a:t>예측할수</a:t>
            </a:r>
            <a:r>
              <a:rPr lang="ko-KR" altLang="en-US" dirty="0"/>
              <a:t> 없는 투표자의 경우 랜덤으로 </a:t>
            </a:r>
            <a:r>
              <a:rPr lang="en-US" altLang="ko-KR" dirty="0"/>
              <a:t>[</a:t>
            </a:r>
            <a:r>
              <a:rPr lang="ko-KR" altLang="en-US" dirty="0"/>
              <a:t>보수 </a:t>
            </a:r>
            <a:r>
              <a:rPr lang="en-US" altLang="ko-KR" dirty="0"/>
              <a:t>, </a:t>
            </a:r>
            <a:r>
              <a:rPr lang="ko-KR" altLang="en-US" dirty="0"/>
              <a:t>민주</a:t>
            </a:r>
            <a:r>
              <a:rPr lang="en-US" altLang="ko-KR" dirty="0"/>
              <a:t>] </a:t>
            </a:r>
            <a:r>
              <a:rPr lang="ko-KR" altLang="en-US" dirty="0"/>
              <a:t>중에서 하나로 예측한다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B00A6B-9B2E-40E8-BCCF-4E22C72654CA}"/>
              </a:ext>
            </a:extLst>
          </p:cNvPr>
          <p:cNvSpPr txBox="1"/>
          <p:nvPr/>
        </p:nvSpPr>
        <p:spPr>
          <a:xfrm>
            <a:off x="9340788" y="5394863"/>
            <a:ext cx="2013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최종 목표 변수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2775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409" y="729235"/>
            <a:ext cx="2026891" cy="642365"/>
          </a:xfrm>
        </p:spPr>
        <p:txBody>
          <a:bodyPr rtlCol="0">
            <a:normAutofit/>
          </a:bodyPr>
          <a:lstStyle/>
          <a:p>
            <a:pPr rtl="0"/>
            <a:r>
              <a:rPr lang="en-US" altLang="ko"/>
              <a:t>4. </a:t>
            </a:r>
            <a:r>
              <a:rPr lang="ko-KR" altLang="en-US" dirty="0"/>
              <a:t>결과</a:t>
            </a:r>
            <a:r>
              <a:rPr lang="en-US" altLang="ko" dirty="0"/>
              <a:t>  </a:t>
            </a:r>
            <a:endParaRPr lang="ko" dirty="0"/>
          </a:p>
        </p:txBody>
      </p:sp>
      <p:sp>
        <p:nvSpPr>
          <p:cNvPr id="32" name="날짜 개체 틀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ko"/>
              <a:t>20XX년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ko" dirty="0"/>
              <a:t>설명 자료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smtClean="0"/>
              <a:pPr rtl="0"/>
              <a:t>8</a:t>
            </a:fld>
            <a:endParaRPr lang="en-ZA" dirty="0"/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12CD4049-DFD1-4CF9-A8C9-557403A910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312" y="3962399"/>
            <a:ext cx="5717722" cy="583118"/>
          </a:xfrm>
        </p:spPr>
        <p:txBody>
          <a:bodyPr/>
          <a:lstStyle/>
          <a:p>
            <a:r>
              <a:rPr lang="ko-KR" altLang="en-US" dirty="0"/>
              <a:t>목표 변수 데이터 프레임</a:t>
            </a:r>
            <a:r>
              <a:rPr lang="en-US" altLang="ko-KR" dirty="0"/>
              <a:t>(10*1)</a:t>
            </a:r>
            <a:r>
              <a:rPr lang="ko-KR" altLang="en-US" dirty="0"/>
              <a:t>을 엑셀 파일로 저장 한 후 </a:t>
            </a:r>
            <a:r>
              <a:rPr lang="ko-KR" altLang="en-US" dirty="0" err="1"/>
              <a:t>읽어오기</a:t>
            </a:r>
            <a:endParaRPr lang="ko-KR" altLang="en-US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BA75B2F9-AAE0-4605-8C10-3CF8414CA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1662112"/>
            <a:ext cx="4486275" cy="200977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02D88C4-B3D5-40B6-A4F8-8B966D528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" y="4545517"/>
            <a:ext cx="4614863" cy="90487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9C6DA60-F18C-4E8F-92BE-41A08601F8DC}"/>
              </a:ext>
            </a:extLst>
          </p:cNvPr>
          <p:cNvSpPr txBox="1"/>
          <p:nvPr/>
        </p:nvSpPr>
        <p:spPr>
          <a:xfrm>
            <a:off x="595312" y="5615582"/>
            <a:ext cx="5324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만든 목표변수와 예측변수치를 합쳐</a:t>
            </a:r>
            <a:endParaRPr lang="en-US" altLang="ko-KR" dirty="0"/>
          </a:p>
          <a:p>
            <a:r>
              <a:rPr lang="ko-KR" altLang="en-US" dirty="0"/>
              <a:t>최종 데이터</a:t>
            </a:r>
            <a:r>
              <a:rPr lang="en-US" altLang="ko-KR" dirty="0"/>
              <a:t>(</a:t>
            </a:r>
            <a:r>
              <a:rPr lang="ko-KR" altLang="en-US" dirty="0"/>
              <a:t>표</a:t>
            </a:r>
            <a:r>
              <a:rPr lang="en-US" altLang="ko-KR" dirty="0"/>
              <a:t>) </a:t>
            </a:r>
            <a:r>
              <a:rPr lang="ko-KR" altLang="en-US" dirty="0"/>
              <a:t>생성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DDF383F-898D-46E8-B32A-C8DE19BE7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385" y="3095624"/>
            <a:ext cx="4438650" cy="173355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77ED45D-BE32-4C43-ADB2-85D1B043774F}"/>
              </a:ext>
            </a:extLst>
          </p:cNvPr>
          <p:cNvSpPr txBox="1"/>
          <p:nvPr/>
        </p:nvSpPr>
        <p:spPr>
          <a:xfrm>
            <a:off x="8631526" y="5129200"/>
            <a:ext cx="324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최종 데이터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날짜 개체 틀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21" name="바닥글 개체 틀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설명 자료</a:t>
            </a: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9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979166-F556-46B7-8758-9071AA951B24}"/>
              </a:ext>
            </a:extLst>
          </p:cNvPr>
          <p:cNvSpPr txBox="1"/>
          <p:nvPr/>
        </p:nvSpPr>
        <p:spPr>
          <a:xfrm>
            <a:off x="666750" y="533400"/>
            <a:ext cx="1809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/>
              <a:t>마무리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3F9D64-9128-4295-B7E2-9BD937E73C04}"/>
              </a:ext>
            </a:extLst>
          </p:cNvPr>
          <p:cNvSpPr txBox="1"/>
          <p:nvPr/>
        </p:nvSpPr>
        <p:spPr>
          <a:xfrm>
            <a:off x="5372100" y="2647950"/>
            <a:ext cx="59817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정확도 계산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10</a:t>
            </a:r>
            <a:r>
              <a:rPr lang="ko-KR" altLang="en-US" dirty="0"/>
              <a:t>명의 투표자중 </a:t>
            </a:r>
            <a:r>
              <a:rPr lang="en-US" altLang="ko-KR" dirty="0"/>
              <a:t>6</a:t>
            </a:r>
            <a:r>
              <a:rPr lang="ko-KR" altLang="en-US" dirty="0"/>
              <a:t>명의 투표 결과는 패턴에 따라서 여러 번을 테스트 하더라도 정확하게 나온다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명의 패턴이 없는 학습자의 경우 예측모델이 랜덤하게 결과를 예측함으로 모두다 </a:t>
            </a:r>
            <a:r>
              <a:rPr lang="ko-KR" altLang="en-US" dirty="0" err="1"/>
              <a:t>틀릴수도</a:t>
            </a:r>
            <a:r>
              <a:rPr lang="ko-KR" altLang="en-US" dirty="0"/>
              <a:t> 모두 다 </a:t>
            </a:r>
            <a:r>
              <a:rPr lang="ko-KR" altLang="en-US" dirty="0" err="1"/>
              <a:t>맟출수도</a:t>
            </a:r>
            <a:r>
              <a:rPr lang="ko-KR" altLang="en-US" dirty="0"/>
              <a:t>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이 예측모델의 경우 정확도는 </a:t>
            </a:r>
            <a:r>
              <a:rPr lang="en-US" altLang="ko-KR" dirty="0"/>
              <a:t>60%~100%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59B0C-DCE8-474A-B19D-92A972F7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301E0E-444E-4705-87B3-09C198AD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5E2681-26C8-421E-B3A8-434F24E8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10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5FEDBBA0-435C-4ACC-BAAC-59BF25F942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784953"/>
              </p:ext>
            </p:extLst>
          </p:nvPr>
        </p:nvGraphicFramePr>
        <p:xfrm>
          <a:off x="454025" y="517524"/>
          <a:ext cx="6170612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Cell 문서" r:id="rId3" imgW="6086520" imgH="2876400" progId="HCell.Document.9">
                  <p:embed/>
                </p:oleObj>
              </mc:Choice>
              <mc:Fallback>
                <p:oleObj name="Cell 문서" r:id="rId3" imgW="6086520" imgH="2876400" progId="HCell.Document.9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4025" y="517524"/>
                        <a:ext cx="6170612" cy="2498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9E8FB862-C460-4777-9EC1-3D7300107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439733"/>
              </p:ext>
            </p:extLst>
          </p:nvPr>
        </p:nvGraphicFramePr>
        <p:xfrm>
          <a:off x="538162" y="3248024"/>
          <a:ext cx="6086475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Cell 문서" r:id="rId5" imgW="6086520" imgH="2876400" progId="HCell.Document.9">
                  <p:embed/>
                </p:oleObj>
              </mc:Choice>
              <mc:Fallback>
                <p:oleObj name="Cell 문서" r:id="rId5" imgW="6086520" imgH="2876400" progId="HCell.Document.9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8162" y="3248024"/>
                        <a:ext cx="6086475" cy="287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7A570B5-00C5-4CB5-9E30-4DC0F7609543}"/>
              </a:ext>
            </a:extLst>
          </p:cNvPr>
          <p:cNvSpPr txBox="1"/>
          <p:nvPr/>
        </p:nvSpPr>
        <p:spPr>
          <a:xfrm>
            <a:off x="7115175" y="5787788"/>
            <a:ext cx="207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투표결과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621FB340-1AA9-44CD-9DB1-A7EA566E5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9768" y="5540035"/>
            <a:ext cx="1990725" cy="617084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&lt;</a:t>
            </a:r>
            <a:r>
              <a:rPr lang="ko-KR" altLang="en-US" sz="1800" dirty="0"/>
              <a:t>최종 데이터</a:t>
            </a:r>
            <a:r>
              <a:rPr lang="en-US" altLang="ko-KR" sz="1800" dirty="0"/>
              <a:t>&gt;</a:t>
            </a:r>
            <a:endParaRPr lang="ko-KR" altLang="en-US" sz="1800" dirty="0"/>
          </a:p>
        </p:txBody>
      </p:sp>
      <p:graphicFrame>
        <p:nvGraphicFramePr>
          <p:cNvPr id="12" name="개체 11">
            <a:extLst>
              <a:ext uri="{FF2B5EF4-FFF2-40B4-BE49-F238E27FC236}">
                <a16:creationId xmlns:a16="http://schemas.microsoft.com/office/drawing/2014/main" id="{F0418893-DE83-4523-AF4A-D008BE193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111800"/>
              </p:ext>
            </p:extLst>
          </p:nvPr>
        </p:nvGraphicFramePr>
        <p:xfrm>
          <a:off x="7288736" y="501626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Cell 문서" showAsIcon="1" r:id="rId7" imgW="914400" imgH="771480" progId="HCell.Document.9">
                  <p:embed/>
                </p:oleObj>
              </mc:Choice>
              <mc:Fallback>
                <p:oleObj name="Cell 문서" showAsIcon="1" r:id="rId7" imgW="914400" imgH="771480" progId="HCell.Document.9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88736" y="501626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47B7D8DD-B359-44B7-B3E9-5AA49E4E92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020611"/>
              </p:ext>
            </p:extLst>
          </p:nvPr>
        </p:nvGraphicFramePr>
        <p:xfrm>
          <a:off x="10319797" y="501626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Cell 문서" showAsIcon="1" r:id="rId9" imgW="914400" imgH="771480" progId="HCell.Document.9">
                  <p:embed/>
                </p:oleObj>
              </mc:Choice>
              <mc:Fallback>
                <p:oleObj name="Cell 문서" showAsIcon="1" r:id="rId9" imgW="914400" imgH="771480" progId="HCell.Document.9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319797" y="501626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개체 14">
            <a:extLst>
              <a:ext uri="{FF2B5EF4-FFF2-40B4-BE49-F238E27FC236}">
                <a16:creationId xmlns:a16="http://schemas.microsoft.com/office/drawing/2014/main" id="{D45758AA-904F-49A2-B539-6F6F17414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691218"/>
              </p:ext>
            </p:extLst>
          </p:nvPr>
        </p:nvGraphicFramePr>
        <p:xfrm>
          <a:off x="8342313" y="5051425"/>
          <a:ext cx="16002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포장기 셸 개체" showAsIcon="1" r:id="rId11" imgW="1600560" imgH="604800" progId="Package">
                  <p:embed/>
                </p:oleObj>
              </mc:Choice>
              <mc:Fallback>
                <p:oleObj name="포장기 셸 개체" showAsIcon="1" r:id="rId11" imgW="1600560" imgH="604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42313" y="5051425"/>
                        <a:ext cx="1600200" cy="60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5D820C2-C84E-4614-BFFF-3012DB878F25}"/>
              </a:ext>
            </a:extLst>
          </p:cNvPr>
          <p:cNvSpPr txBox="1"/>
          <p:nvPr/>
        </p:nvSpPr>
        <p:spPr>
          <a:xfrm>
            <a:off x="8684867" y="5787787"/>
            <a:ext cx="1218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&lt;r </a:t>
            </a:r>
            <a:r>
              <a:rPr lang="ko-KR" altLang="en-US" dirty="0"/>
              <a:t>파일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1852761"/>
      </p:ext>
    </p:extLst>
  </p:cSld>
  <p:clrMapOvr>
    <a:masterClrMapping/>
  </p:clrMapOvr>
</p:sld>
</file>

<file path=ppt/theme/theme1.xml><?xml version="1.0" encoding="utf-8"?>
<a:theme xmlns:a="http://schemas.openxmlformats.org/drawingml/2006/main" name="모노라인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8872_TF22318419_Win32" id="{2BE6961B-FA69-4260-AFAD-3D8256877AF9}" vid="{2636BF1C-1032-4E29-96EC-D5D5F0CCF6A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미니멀한 영업 프레젠테이션</Template>
  <TotalTime>72</TotalTime>
  <Words>497</Words>
  <Application>Microsoft Office PowerPoint</Application>
  <PresentationFormat>와이드스크린</PresentationFormat>
  <Paragraphs>88</Paragraphs>
  <Slides>10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Tenorite</vt:lpstr>
      <vt:lpstr>모노라인</vt:lpstr>
      <vt:lpstr>Cell 문서</vt:lpstr>
      <vt:lpstr>패키지</vt:lpstr>
      <vt:lpstr>01주차 과제 (선호 정당 예측하기)</vt:lpstr>
      <vt:lpstr>목차</vt:lpstr>
      <vt:lpstr>1. 투표자 예측변수 만들기 </vt:lpstr>
      <vt:lpstr>2. 패턴 만들기 </vt:lpstr>
      <vt:lpstr>2. 패턴 만들기</vt:lpstr>
      <vt:lpstr>2. 패턴 만들기</vt:lpstr>
      <vt:lpstr>3. 패턴에 따른  목표 변수 생성 </vt:lpstr>
      <vt:lpstr>4. 결과  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01주차 과제 (선호 정당 예측하기)</dc:title>
  <dc:creator>류호원(***8***020)</dc:creator>
  <cp:lastModifiedBy>류호원(***8***020)</cp:lastModifiedBy>
  <cp:revision>5</cp:revision>
  <dcterms:created xsi:type="dcterms:W3CDTF">2022-03-05T06:43:00Z</dcterms:created>
  <dcterms:modified xsi:type="dcterms:W3CDTF">2022-03-06T09:13:07Z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