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70" r:id="rId3"/>
    <p:sldId id="258" r:id="rId4"/>
    <p:sldId id="264" r:id="rId5"/>
    <p:sldId id="267" r:id="rId6"/>
    <p:sldId id="268" r:id="rId7"/>
    <p:sldId id="269" r:id="rId8"/>
    <p:sldId id="272" r:id="rId9"/>
    <p:sldId id="273" r:id="rId10"/>
    <p:sldId id="274" r:id="rId11"/>
    <p:sldId id="275" r:id="rId12"/>
    <p:sldId id="278" r:id="rId13"/>
    <p:sldId id="279" r:id="rId14"/>
    <p:sldId id="277" r:id="rId1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7E7"/>
    <a:srgbClr val="FFC000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6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73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12318-F619-4488-8B6E-2F5F2426A6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8BEE6BB-9A5F-4E9F-9F1C-6D46BE01A3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D9A51D-A948-4CB8-A9EB-5A26520C8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374BBD-0B82-4658-B13D-088F0E4D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1AAA67-696A-4836-A10B-FF164C3AF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2144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C6958D-28E5-4CC8-8C48-52A02A1BC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8E03031-827B-4AC7-B564-384C16177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C19838-69C9-49EB-9B51-549106E9B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26852C-90C9-4502-A697-363CF824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F7509D0-CCBD-406A-9D4E-6845657BBA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86310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EF73EF-188B-4B17-B08F-D30E80C308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D7DD2CA-F9BF-47A8-9D27-757556FD1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8A1FB-ABBF-480D-AC6C-9BB1AEF97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84247E-1D11-4A19-BDDF-E157A205B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24EC815-B6FC-4BDE-910C-F8015ED4A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093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DAEB91-29AA-4ACC-BDCF-960470FC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6B0E51-7DC0-45B6-8306-D8167F5CB7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7CB78CC-8798-4261-B4B1-60B4C5437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594384-5734-4FC8-928A-E1641354A1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82301C0-6908-48C0-8957-C8B3F4594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7DD8FE-7741-412F-947D-7A7079F48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47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D6DFD1-B640-4CC6-A759-6C7981C5C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B2A237-7572-46BD-9502-829F6C0AD4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1AE9732-B570-4506-BDA6-0AB39D4536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89407D-7DA6-4293-A426-38DF9B2116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239549F-370A-4671-B1BB-79655CC6CB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A86D9E62-97AA-41F8-B69B-6CD691CF0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41D3FC0-561B-4DE4-AA99-9DB56EC6B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0040F2-99C5-450C-9966-5D00290E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7052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E337C1-8281-4F6E-9A31-EBE388C3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0EA4B32-9135-4223-8DE6-887D27434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407FC83-8D70-48DB-8681-08CFD9C0D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FC15EC-BCCB-4B82-A94C-FABC63DF6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492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B9F9692-5462-4439-80C8-B7E337FC9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4CA042D-EBC0-437C-A819-521611A54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2415CDA-0D1F-49BD-8381-21C3BEFD5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50468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6F10D4-8D29-48C2-ADF0-92316E2C8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A3CD3-DE79-4260-873A-FEDE5C678F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9C6BD2-52A1-4155-9D55-1D84777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82A3511-0B13-4D97-937C-07365FBADA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4C805B4-20AF-4A3C-B131-E1D9FFBB0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9C705FC-2895-472A-B6FD-C2434624B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45690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00D820-915B-4802-8C2E-FF7CA967E0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0CF9849-20D0-417A-99C8-099DF39939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4A7754-54E7-4123-8C5E-1B05B517B5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FF3F1-9632-4E06-BAB7-312343416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F23D6B1-934F-4B4D-9E4F-5AE9E873C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57FDD5-2092-4E16-8E7C-1CCA4719C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5313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43AEE1-28CA-46D2-81F5-CD34E4F9E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738FEC2-4BF0-4A45-9297-EE9B2E45E5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EDBAD0-D342-4544-94B8-122B3BDBF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70FE0D-ACBA-4806-9F35-4EB786E86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F3119A-4AE1-408F-B8AD-4428B0060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112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0B3D2AB-E650-41C2-B6FB-5398A5C196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92D6516-8F93-4221-97F7-E01D89EE51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D86CB26-A349-496A-B48B-A7B891172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2E726FD-A739-41D5-96BA-4670363928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FAE18D-FED5-4070-8B76-811D76CCE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8535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EDFC4"/>
          </a:fgClr>
          <a:bgClr>
            <a:srgbClr val="F5ECD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4C8B562-0886-4274-876D-59EFAAAE2F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799B9E-1CD2-4A09-9ACC-2FA1C62D7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2A0C5B4-9399-4A5E-8DEE-54436B1EC8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A40FD1-0EE3-4101-8160-1422DBE4B71F}" type="datetimeFigureOut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2022-04-05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B2B9FF-C0C5-4E9E-A76A-AF0745E2D8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992FE0-2D01-4365-9F95-1FF838BCEF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4987C-29F7-432B-B883-ED8D01B47793}" type="slidenum">
              <a:rPr lang="ko-KR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21439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3333750" y="2602869"/>
            <a:ext cx="5567345" cy="200416"/>
          </a:xfrm>
          <a:prstGeom prst="rect">
            <a:avLst/>
          </a:prstGeom>
          <a:solidFill>
            <a:srgbClr val="F89403"/>
          </a:solidFill>
          <a:ln w="12700">
            <a:solidFill>
              <a:srgbClr val="333F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8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8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043824" y="2878441"/>
            <a:ext cx="61414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6000" b="1" dirty="0">
                <a:ln w="15875">
                  <a:solidFill>
                    <a:srgbClr val="44546A">
                      <a:lumMod val="75000"/>
                    </a:srgbClr>
                  </a:solidFill>
                </a:ln>
                <a:solidFill>
                  <a:prstClr val="white"/>
                </a:solidFill>
                <a:effectLst>
                  <a:outerShdw dist="38100" dir="2700000" algn="tl" rotWithShape="0">
                    <a:srgbClr val="44546A">
                      <a:lumMod val="75000"/>
                    </a:srgbClr>
                  </a:outerShdw>
                </a:effectLst>
                <a:latin typeface="Impact" panose="020B0806030902050204" pitchFamily="34" charset="0"/>
                <a:ea typeface="Segoe UI Black" panose="020B0A02040204020203" pitchFamily="34" charset="0"/>
              </a:rPr>
              <a:t>5</a:t>
            </a:r>
            <a:r>
              <a:rPr lang="ko-KR" altLang="en-US" sz="6000" b="1" dirty="0">
                <a:ln w="15875">
                  <a:solidFill>
                    <a:srgbClr val="44546A">
                      <a:lumMod val="75000"/>
                    </a:srgbClr>
                  </a:solidFill>
                </a:ln>
                <a:solidFill>
                  <a:prstClr val="white"/>
                </a:solidFill>
                <a:effectLst>
                  <a:outerShdw dist="38100" dir="2700000" algn="tl" rotWithShape="0">
                    <a:srgbClr val="44546A">
                      <a:lumMod val="75000"/>
                    </a:srgbClr>
                  </a:outerShdw>
                </a:effectLst>
                <a:latin typeface="Impact" panose="020B0806030902050204" pitchFamily="34" charset="0"/>
                <a:ea typeface="Segoe UI Black" panose="020B0A02040204020203" pitchFamily="34" charset="0"/>
              </a:rPr>
              <a:t>주차 </a:t>
            </a:r>
            <a:endParaRPr lang="ko-KR" altLang="en-US" sz="40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9272999" y="3360593"/>
            <a:ext cx="2736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395506" y="3352521"/>
            <a:ext cx="2736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CFF16563-4E01-4DA8-B29A-8554A9F38FBE}"/>
              </a:ext>
            </a:extLst>
          </p:cNvPr>
          <p:cNvSpPr txBox="1"/>
          <p:nvPr/>
        </p:nvSpPr>
        <p:spPr>
          <a:xfrm>
            <a:off x="4752658" y="4189446"/>
            <a:ext cx="2723823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2018121068 	</a:t>
            </a:r>
            <a:r>
              <a:rPr lang="ko-KR" altLang="en-US" dirty="0"/>
              <a:t>김현재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2018124091 	</a:t>
            </a:r>
            <a:r>
              <a:rPr lang="ko-KR" altLang="en-US" dirty="0" err="1"/>
              <a:t>빈정수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2018125020 	</a:t>
            </a:r>
            <a:r>
              <a:rPr lang="ko-KR" altLang="en-US" dirty="0" err="1"/>
              <a:t>류호원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4036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6050507" y="617864"/>
            <a:ext cx="61414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0" b="1" dirty="0">
                <a:ln w="15875">
                  <a:solidFill>
                    <a:srgbClr val="44546A">
                      <a:lumMod val="75000"/>
                    </a:srgbClr>
                  </a:solidFill>
                </a:ln>
                <a:solidFill>
                  <a:prstClr val="white"/>
                </a:solidFill>
                <a:effectLst>
                  <a:outerShdw dist="38100" dir="2700000" algn="tl" rotWithShape="0">
                    <a:srgbClr val="44546A">
                      <a:lumMod val="75000"/>
                    </a:srgbClr>
                  </a:outerShdw>
                </a:effectLst>
                <a:latin typeface="Impact" panose="020B0806030902050204" pitchFamily="34" charset="0"/>
              </a:rPr>
              <a:t>목차</a:t>
            </a:r>
            <a:endParaRPr lang="ko-KR" altLang="en-US" sz="40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F16563-4E01-4DA8-B29A-8554A9F38FBE}"/>
              </a:ext>
            </a:extLst>
          </p:cNvPr>
          <p:cNvSpPr txBox="1"/>
          <p:nvPr/>
        </p:nvSpPr>
        <p:spPr>
          <a:xfrm>
            <a:off x="1628815" y="2661541"/>
            <a:ext cx="273741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2. EDA </a:t>
            </a:r>
            <a:r>
              <a:rPr lang="ko-KR" altLang="en-US" dirty="0"/>
              <a:t>와 데이터 </a:t>
            </a:r>
            <a:r>
              <a:rPr lang="ko-KR" altLang="en-US" dirty="0" err="1"/>
              <a:t>전처리</a:t>
            </a:r>
            <a:endParaRPr lang="en-US" altLang="ko-KR" dirty="0"/>
          </a:p>
          <a:p>
            <a:r>
              <a:rPr lang="en-US" altLang="ko-KR" dirty="0"/>
              <a:t>	-EDA</a:t>
            </a:r>
          </a:p>
          <a:p>
            <a:r>
              <a:rPr lang="en-US" altLang="ko-KR" dirty="0"/>
              <a:t>	-</a:t>
            </a:r>
            <a:r>
              <a:rPr lang="ko-KR" altLang="en-US" dirty="0" err="1"/>
              <a:t>전처리</a:t>
            </a:r>
            <a:endParaRPr lang="ko-KR" altLang="en-US" dirty="0"/>
          </a:p>
        </p:txBody>
      </p:sp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1FC1066E-5859-40AC-A7CC-5BA1B29C0107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179F1D-6DB4-45FB-9B50-93492D6DE40C}"/>
              </a:ext>
            </a:extLst>
          </p:cNvPr>
          <p:cNvSpPr txBox="1"/>
          <p:nvPr/>
        </p:nvSpPr>
        <p:spPr>
          <a:xfrm>
            <a:off x="1628815" y="3799372"/>
            <a:ext cx="284885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3. </a:t>
            </a:r>
            <a:r>
              <a:rPr lang="ko-KR" altLang="en-US" dirty="0"/>
              <a:t>모델 생성 및 성능 평가</a:t>
            </a:r>
            <a:endParaRPr lang="en-US" altLang="ko-KR" dirty="0"/>
          </a:p>
          <a:p>
            <a:r>
              <a:rPr lang="en-US" altLang="ko-KR" dirty="0"/>
              <a:t>	-</a:t>
            </a:r>
            <a:r>
              <a:rPr lang="ko-KR" altLang="en-US" dirty="0"/>
              <a:t> </a:t>
            </a:r>
            <a:r>
              <a:rPr lang="en-US" altLang="ko-KR" dirty="0"/>
              <a:t>Post-pruning</a:t>
            </a:r>
          </a:p>
          <a:p>
            <a:r>
              <a:rPr lang="en-US" altLang="ko-KR" dirty="0"/>
              <a:t>	- Pre-pruning</a:t>
            </a:r>
          </a:p>
          <a:p>
            <a:r>
              <a:rPr lang="en-US" altLang="ko-KR" dirty="0"/>
              <a:t>	- </a:t>
            </a:r>
            <a:r>
              <a:rPr lang="ko-KR" altLang="en-US" dirty="0"/>
              <a:t>비교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42AF6A-A2A8-480B-B061-4A50E3566131}"/>
              </a:ext>
            </a:extLst>
          </p:cNvPr>
          <p:cNvSpPr txBox="1"/>
          <p:nvPr/>
        </p:nvSpPr>
        <p:spPr>
          <a:xfrm>
            <a:off x="1628815" y="5222760"/>
            <a:ext cx="19913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4. Learning curve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793020-614A-4947-BFC5-3FDF1DD51222}"/>
              </a:ext>
            </a:extLst>
          </p:cNvPr>
          <p:cNvSpPr txBox="1"/>
          <p:nvPr/>
        </p:nvSpPr>
        <p:spPr>
          <a:xfrm>
            <a:off x="1628815" y="5815151"/>
            <a:ext cx="12827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5. Rule set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70A75E7-FF46-462B-AC92-A6BA5DB7FDB9}"/>
              </a:ext>
            </a:extLst>
          </p:cNvPr>
          <p:cNvSpPr txBox="1"/>
          <p:nvPr/>
        </p:nvSpPr>
        <p:spPr>
          <a:xfrm>
            <a:off x="1628815" y="1852468"/>
            <a:ext cx="32417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1. </a:t>
            </a:r>
            <a:r>
              <a:rPr lang="en-US" altLang="ko-KR" sz="18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Amazon Mechanical Turk</a:t>
            </a:r>
            <a:endParaRPr lang="ko-KR" altLang="en-US" sz="18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68884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Amazon Mechanical Turk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227EF5C-32CB-4A16-AD77-44CB3BD60B35}"/>
              </a:ext>
            </a:extLst>
          </p:cNvPr>
          <p:cNvSpPr txBox="1"/>
          <p:nvPr/>
        </p:nvSpPr>
        <p:spPr>
          <a:xfrm>
            <a:off x="1024812" y="1384678"/>
            <a:ext cx="1014237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요청자가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HIT(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인간 지능 작업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)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로 작업을 게시하는 포럼입니다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.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작업자는 보수에 대한 대가로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HIT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를 완료합니다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. </a:t>
            </a:r>
          </a:p>
          <a:p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Mechanical Turk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개발자 </a:t>
            </a:r>
            <a:r>
              <a:rPr lang="ko-KR" altLang="en-US" b="0" i="0" dirty="0" err="1">
                <a:solidFill>
                  <a:srgbClr val="333333"/>
                </a:solidFill>
                <a:effectLst/>
                <a:latin typeface="Helvetica Neue"/>
              </a:rPr>
              <a:t>샌드박스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, Amazon Mechanical Turk API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및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AWS SDK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를 사용하여 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HIT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를 작성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, 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Helvetica Neue"/>
              </a:rPr>
              <a:t>테스트 및 게시합니다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Helvetica Neue"/>
              </a:rPr>
              <a:t>.</a:t>
            </a:r>
          </a:p>
          <a:p>
            <a:endParaRPr lang="en-US" altLang="ko-KR" dirty="0">
              <a:solidFill>
                <a:srgbClr val="333333"/>
              </a:solidFill>
              <a:latin typeface="Helvetica Neue"/>
            </a:endParaRPr>
          </a:p>
          <a:p>
            <a:endParaRPr lang="en-US" altLang="ko-KR" dirty="0">
              <a:solidFill>
                <a:srgbClr val="333333"/>
              </a:solidFill>
              <a:latin typeface="Helvetica Neue"/>
            </a:endParaRPr>
          </a:p>
          <a:p>
            <a:pPr algn="l"/>
            <a:r>
              <a:rPr lang="ko-KR" altLang="en-US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다음은 요청자가 게시하는 몇 가지 일반적인 작업</a:t>
            </a:r>
            <a:endParaRPr lang="en-US" altLang="ko-KR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지역화 및 전사 서비스</a:t>
            </a:r>
            <a:endParaRPr lang="en-US" altLang="ko-KR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오디오 편집</a:t>
            </a:r>
            <a:endParaRPr lang="en-US" altLang="ko-KR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endParaRPr lang="ko-KR" altLang="en-US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정보 수집 작업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설문 조사</a:t>
            </a:r>
            <a:r>
              <a:rPr lang="en-US" altLang="ko-KR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altLang="ko-KR" b="0" i="0" dirty="0">
              <a:solidFill>
                <a:srgbClr val="333333"/>
              </a:solidFill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33333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기계 학습</a:t>
            </a:r>
          </a:p>
          <a:p>
            <a:endParaRPr lang="en-US" altLang="ko-KR" dirty="0">
              <a:solidFill>
                <a:srgbClr val="333333"/>
              </a:solidFill>
              <a:latin typeface="Helvetica Neue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50808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870DBA-981A-47E1-9DE3-5B9BF5BA2966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EDA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B08F05A-6E36-429A-BC72-21A70E42D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29" y="1028492"/>
            <a:ext cx="9403895" cy="240050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B18F4C3-A51F-4638-AE46-8306B6CE7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329" y="3496028"/>
            <a:ext cx="8675138" cy="308673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648DB491-0CF9-4758-9FB4-7B002D73DA84}"/>
              </a:ext>
            </a:extLst>
          </p:cNvPr>
          <p:cNvSpPr/>
          <p:nvPr/>
        </p:nvSpPr>
        <p:spPr>
          <a:xfrm>
            <a:off x="4338735" y="5535943"/>
            <a:ext cx="1166326" cy="112317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화살표: 오른쪽 6">
            <a:extLst>
              <a:ext uri="{FF2B5EF4-FFF2-40B4-BE49-F238E27FC236}">
                <a16:creationId xmlns:a16="http://schemas.microsoft.com/office/drawing/2014/main" id="{06D3B619-B267-4924-A4F2-6951EB7B4421}"/>
              </a:ext>
            </a:extLst>
          </p:cNvPr>
          <p:cNvSpPr/>
          <p:nvPr/>
        </p:nvSpPr>
        <p:spPr>
          <a:xfrm>
            <a:off x="5603762" y="5910919"/>
            <a:ext cx="1707502" cy="373225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C1FC5-6E2A-4F84-A0E0-F21F0B73AADB}"/>
              </a:ext>
            </a:extLst>
          </p:cNvPr>
          <p:cNvSpPr txBox="1"/>
          <p:nvPr/>
        </p:nvSpPr>
        <p:spPr>
          <a:xfrm>
            <a:off x="7409965" y="5887980"/>
            <a:ext cx="1958249" cy="373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목표변수</a:t>
            </a:r>
          </a:p>
        </p:txBody>
      </p:sp>
    </p:spTree>
    <p:extLst>
      <p:ext uri="{BB962C8B-B14F-4D97-AF65-F5344CB8AC3E}">
        <p14:creationId xmlns:p14="http://schemas.microsoft.com/office/powerpoint/2010/main" val="20984874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데이터 </a:t>
            </a:r>
            <a:r>
              <a:rPr lang="ko-KR" altLang="en-US" sz="3200" dirty="0" err="1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전처리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06C867B-AE03-4303-8948-56C37C65EF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790" y="1529513"/>
            <a:ext cx="11567385" cy="363766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8B5EA98-7F1C-46DA-BF57-9CDB0EAAC0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790" y="5578654"/>
            <a:ext cx="2150935" cy="59433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31CCD78-C40A-4029-923C-D68BF9E449E5}"/>
              </a:ext>
            </a:extLst>
          </p:cNvPr>
          <p:cNvSpPr/>
          <p:nvPr/>
        </p:nvSpPr>
        <p:spPr>
          <a:xfrm>
            <a:off x="2122247" y="2345575"/>
            <a:ext cx="1455576" cy="205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8E46DDE-E6B1-49F5-8C3B-E10BEA211795}"/>
              </a:ext>
            </a:extLst>
          </p:cNvPr>
          <p:cNvSpPr/>
          <p:nvPr/>
        </p:nvSpPr>
        <p:spPr>
          <a:xfrm>
            <a:off x="2122247" y="2554606"/>
            <a:ext cx="475861" cy="195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95C8516-0A04-4484-B6D9-44E33640FF81}"/>
              </a:ext>
            </a:extLst>
          </p:cNvPr>
          <p:cNvSpPr/>
          <p:nvPr/>
        </p:nvSpPr>
        <p:spPr>
          <a:xfrm>
            <a:off x="2122247" y="3142727"/>
            <a:ext cx="475861" cy="19533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D472F8F-2265-49E8-8147-B5F519B74C45}"/>
              </a:ext>
            </a:extLst>
          </p:cNvPr>
          <p:cNvSpPr/>
          <p:nvPr/>
        </p:nvSpPr>
        <p:spPr>
          <a:xfrm>
            <a:off x="2122247" y="3758546"/>
            <a:ext cx="321668" cy="18413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778FD75-F5EE-46A4-8C0E-8D4D1509BD94}"/>
              </a:ext>
            </a:extLst>
          </p:cNvPr>
          <p:cNvSpPr/>
          <p:nvPr/>
        </p:nvSpPr>
        <p:spPr>
          <a:xfrm>
            <a:off x="2122247" y="4354130"/>
            <a:ext cx="475861" cy="205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AC2A62F-EC35-4E99-B7A0-CD285446BCC5}"/>
              </a:ext>
            </a:extLst>
          </p:cNvPr>
          <p:cNvSpPr/>
          <p:nvPr/>
        </p:nvSpPr>
        <p:spPr>
          <a:xfrm>
            <a:off x="2122247" y="4955360"/>
            <a:ext cx="6344816" cy="20527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3EA693A-5DDB-4C9E-AE17-32F0FD9CF595}"/>
              </a:ext>
            </a:extLst>
          </p:cNvPr>
          <p:cNvSpPr/>
          <p:nvPr/>
        </p:nvSpPr>
        <p:spPr>
          <a:xfrm>
            <a:off x="2122247" y="3348000"/>
            <a:ext cx="475861" cy="196035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10D450-997E-4586-A5C8-B35352D6162D}"/>
              </a:ext>
            </a:extLst>
          </p:cNvPr>
          <p:cNvSpPr txBox="1"/>
          <p:nvPr/>
        </p:nvSpPr>
        <p:spPr>
          <a:xfrm>
            <a:off x="260790" y="1054359"/>
            <a:ext cx="459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Factor</a:t>
            </a:r>
            <a:r>
              <a:rPr lang="ko-KR" altLang="en-US" dirty="0"/>
              <a:t>로 변환</a:t>
            </a:r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E40DB67A-2422-4A68-95AD-DA297FED4DF4}"/>
              </a:ext>
            </a:extLst>
          </p:cNvPr>
          <p:cNvSpPr/>
          <p:nvPr/>
        </p:nvSpPr>
        <p:spPr>
          <a:xfrm>
            <a:off x="8671015" y="4913372"/>
            <a:ext cx="564970" cy="289248"/>
          </a:xfrm>
          <a:prstGeom prst="rightArrow">
            <a:avLst>
              <a:gd name="adj1" fmla="val 40000"/>
              <a:gd name="adj2" fmla="val 85000"/>
            </a:avLst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A8D677-AEE5-4D6F-B3FB-921294AD1215}"/>
              </a:ext>
            </a:extLst>
          </p:cNvPr>
          <p:cNvSpPr txBox="1"/>
          <p:nvPr/>
        </p:nvSpPr>
        <p:spPr>
          <a:xfrm>
            <a:off x="9442111" y="4873330"/>
            <a:ext cx="17728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목표 변수</a:t>
            </a:r>
          </a:p>
        </p:txBody>
      </p:sp>
    </p:spTree>
    <p:extLst>
      <p:ext uri="{BB962C8B-B14F-4D97-AF65-F5344CB8AC3E}">
        <p14:creationId xmlns:p14="http://schemas.microsoft.com/office/powerpoint/2010/main" val="34183942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2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목표변수에 따른 분포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4C3077-9602-4C33-B722-D70ED29354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427" y="1085147"/>
            <a:ext cx="6340389" cy="364267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2B245529-690A-4D41-BA79-0C707DFD86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3976" y="1085147"/>
            <a:ext cx="4450466" cy="278916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AB1122A-07E6-482F-BD73-E2733DFEFC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427" y="5506637"/>
            <a:ext cx="10695755" cy="5304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6B08D54-FD65-4B9D-BDA4-229A0A885A1F}"/>
              </a:ext>
            </a:extLst>
          </p:cNvPr>
          <p:cNvSpPr txBox="1"/>
          <p:nvPr/>
        </p:nvSpPr>
        <p:spPr>
          <a:xfrm>
            <a:off x="402427" y="4904129"/>
            <a:ext cx="459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dirty="0"/>
              <a:t>목표 변수에 따른 예측변수 상관계수</a:t>
            </a:r>
          </a:p>
        </p:txBody>
      </p:sp>
    </p:spTree>
    <p:extLst>
      <p:ext uri="{BB962C8B-B14F-4D97-AF65-F5344CB8AC3E}">
        <p14:creationId xmlns:p14="http://schemas.microsoft.com/office/powerpoint/2010/main" val="471214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effectLst/>
                <a:latin typeface="맑은 고딕" panose="020B0503020000020004" pitchFamily="50" charset="-127"/>
                <a:cs typeface="Times New Roman" panose="02020603050405020304" pitchFamily="18" charset="0"/>
              </a:rPr>
              <a:t>Post-pruning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19DDF1-A8AE-4573-AD71-C4B6CF1F7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333" y="1985838"/>
            <a:ext cx="3595591" cy="10092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D9F219E-1250-4813-9FEC-FE5053244C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536" y="1013532"/>
            <a:ext cx="3033023" cy="245385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F8115DB7-B307-43B2-A3AF-DB3B7745F7E8}"/>
              </a:ext>
            </a:extLst>
          </p:cNvPr>
          <p:cNvSpPr txBox="1"/>
          <p:nvPr/>
        </p:nvSpPr>
        <p:spPr>
          <a:xfrm>
            <a:off x="615336" y="1301354"/>
            <a:ext cx="459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/>
              <a:t>Full Tree </a:t>
            </a:r>
            <a:r>
              <a:rPr lang="ko-KR" altLang="en-US" dirty="0"/>
              <a:t>생성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D98C9B-0794-4688-9C90-469611AE98CF}"/>
              </a:ext>
            </a:extLst>
          </p:cNvPr>
          <p:cNvSpPr txBox="1"/>
          <p:nvPr/>
        </p:nvSpPr>
        <p:spPr>
          <a:xfrm>
            <a:off x="615336" y="3947876"/>
            <a:ext cx="4591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ko-KR" dirty="0" err="1"/>
              <a:t>Rpart</a:t>
            </a:r>
            <a:r>
              <a:rPr lang="en-US" altLang="ko-KR" dirty="0"/>
              <a:t> </a:t>
            </a:r>
            <a:r>
              <a:rPr lang="ko-KR" altLang="en-US" dirty="0"/>
              <a:t>파라미터 최적 조합 결정</a:t>
            </a:r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0A851F21-439A-4D08-9931-A45490924EE4}"/>
              </a:ext>
            </a:extLst>
          </p:cNvPr>
          <p:cNvSpPr/>
          <p:nvPr/>
        </p:nvSpPr>
        <p:spPr>
          <a:xfrm>
            <a:off x="9834465" y="1301354"/>
            <a:ext cx="121298" cy="1964360"/>
          </a:xfrm>
          <a:prstGeom prst="down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20EA473-3C87-4527-BE20-5E77DF1B62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593" y="4363336"/>
            <a:ext cx="3589331" cy="16689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EF7C5C-BE1A-4914-9CA3-C0AFC0B9CB9D}"/>
              </a:ext>
            </a:extLst>
          </p:cNvPr>
          <p:cNvSpPr txBox="1"/>
          <p:nvPr/>
        </p:nvSpPr>
        <p:spPr>
          <a:xfrm>
            <a:off x="10002311" y="1844151"/>
            <a:ext cx="20805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Cp</a:t>
            </a:r>
            <a:r>
              <a:rPr lang="ko-KR" altLang="en-US" dirty="0"/>
              <a:t>값 낮아질수록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 err="1"/>
              <a:t>xerror</a:t>
            </a:r>
            <a:r>
              <a:rPr lang="en-US" altLang="ko-KR" dirty="0"/>
              <a:t> </a:t>
            </a:r>
            <a:r>
              <a:rPr lang="ko-KR" altLang="en-US" dirty="0"/>
              <a:t>낮아짐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85F7954C-C306-463D-9354-E9C9DF86E824}"/>
              </a:ext>
            </a:extLst>
          </p:cNvPr>
          <p:cNvCxnSpPr/>
          <p:nvPr/>
        </p:nvCxnSpPr>
        <p:spPr>
          <a:xfrm>
            <a:off x="4815573" y="5038006"/>
            <a:ext cx="21898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표 30">
            <a:extLst>
              <a:ext uri="{FF2B5EF4-FFF2-40B4-BE49-F238E27FC236}">
                <a16:creationId xmlns:a16="http://schemas.microsoft.com/office/drawing/2014/main" id="{A41A16E7-8F0F-4626-B0B7-3112ABFBAB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345068"/>
              </p:ext>
            </p:extLst>
          </p:nvPr>
        </p:nvGraphicFramePr>
        <p:xfrm>
          <a:off x="7529231" y="3574966"/>
          <a:ext cx="3474248" cy="29260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737124">
                  <a:extLst>
                    <a:ext uri="{9D8B030D-6E8A-4147-A177-3AD203B41FA5}">
                      <a16:colId xmlns:a16="http://schemas.microsoft.com/office/drawing/2014/main" val="761291219"/>
                    </a:ext>
                  </a:extLst>
                </a:gridCol>
                <a:gridCol w="1737124">
                  <a:extLst>
                    <a:ext uri="{9D8B030D-6E8A-4147-A177-3AD203B41FA5}">
                      <a16:colId xmlns:a16="http://schemas.microsoft.com/office/drawing/2014/main" val="2525698961"/>
                    </a:ext>
                  </a:extLst>
                </a:gridCol>
              </a:tblGrid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최적화할 대상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Best </a:t>
                      </a:r>
                      <a:r>
                        <a:rPr lang="ko-KR" altLang="en-US" dirty="0"/>
                        <a:t>값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0334235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M</a:t>
                      </a:r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axdepth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789722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M</a:t>
                      </a:r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inbucket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172906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M</a:t>
                      </a:r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axsurrogate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7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5145303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maxcompete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3896776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usesurrogate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5066557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minsplit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19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4689947"/>
                  </a:ext>
                </a:extLst>
              </a:tr>
              <a:tr h="322906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ko-KR" altLang="ko-KR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cp</a:t>
                      </a:r>
                      <a:r>
                        <a:rPr kumimoji="0" lang="en-US" altLang="ko-KR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3333"/>
                          </a:solidFill>
                          <a:effectLst/>
                          <a:latin typeface="Arial Unicode MS" panose="020B0604020202020204" pitchFamily="50" charset="-127"/>
                          <a:ea typeface="Courier New" panose="02070309020205020404" pitchFamily="49" charset="0"/>
                        </a:rPr>
                        <a:t>_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0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7881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2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Post-pruning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96047460-EF63-4D42-897A-8BB7457BF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729" y="1181569"/>
            <a:ext cx="3530374" cy="158143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2946917-7196-4801-BC5D-97D0525E4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559" y="1154651"/>
            <a:ext cx="3673158" cy="360457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EDB4A02-54B1-4210-BCEC-B18816767D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121" y="2908819"/>
            <a:ext cx="6340389" cy="348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6737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Pre-pruning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900EB7-C8A0-4764-BF35-CE014EA57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08" y="1093686"/>
            <a:ext cx="3814895" cy="302843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8E0BE7F-3937-4079-B320-3A6D55B429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9559" y="1093686"/>
            <a:ext cx="3680779" cy="372650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F1F2EF3E-17F0-4FDD-9907-73AF2B1FAFE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15" t="18215" r="6975" b="10170"/>
          <a:stretch/>
        </p:blipFill>
        <p:spPr>
          <a:xfrm>
            <a:off x="341908" y="4219146"/>
            <a:ext cx="5887617" cy="202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412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 err="1">
                <a:latin typeface="맑은 고딕" panose="020B0503020000020004" pitchFamily="50" charset="-127"/>
                <a:cs typeface="Times New Roman" panose="02020603050405020304" pitchFamily="18" charset="0"/>
              </a:rPr>
              <a:t>Pre,Post</a:t>
            </a:r>
            <a:r>
              <a:rPr lang="en-US" altLang="ko-KR" sz="32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-pruning </a:t>
            </a:r>
            <a:r>
              <a:rPr lang="ko-KR" altLang="en-US" sz="32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비교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타원 9">
            <a:extLst>
              <a:ext uri="{FF2B5EF4-FFF2-40B4-BE49-F238E27FC236}">
                <a16:creationId xmlns:a16="http://schemas.microsoft.com/office/drawing/2014/main" id="{D9494DCF-B95C-4470-97F0-36ECF4D2B00C}"/>
              </a:ext>
            </a:extLst>
          </p:cNvPr>
          <p:cNvSpPr/>
          <p:nvPr/>
        </p:nvSpPr>
        <p:spPr>
          <a:xfrm>
            <a:off x="4749342" y="2563530"/>
            <a:ext cx="2693316" cy="2693316"/>
          </a:xfrm>
          <a:prstGeom prst="ellipse">
            <a:avLst/>
          </a:prstGeom>
          <a:solidFill>
            <a:srgbClr val="F5E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0.9344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0.9186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0.9784</a:t>
            </a: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F256D70-472A-44B0-8E42-7EF9C8597669}"/>
              </a:ext>
            </a:extLst>
          </p:cNvPr>
          <p:cNvSpPr/>
          <p:nvPr/>
        </p:nvSpPr>
        <p:spPr>
          <a:xfrm>
            <a:off x="7578405" y="2570472"/>
            <a:ext cx="2693316" cy="2693316"/>
          </a:xfrm>
          <a:prstGeom prst="ellipse">
            <a:avLst/>
          </a:prstGeom>
          <a:solidFill>
            <a:srgbClr val="F8940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white"/>
                </a:solidFill>
              </a:rPr>
              <a:t>0.9134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white"/>
                </a:solidFill>
              </a:rPr>
              <a:t>0.8936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white"/>
                </a:solidFill>
              </a:rPr>
              <a:t>0.9567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2AE9A320-3B1B-4C6F-879E-5C87C0E352DC}"/>
              </a:ext>
            </a:extLst>
          </p:cNvPr>
          <p:cNvSpPr/>
          <p:nvPr/>
        </p:nvSpPr>
        <p:spPr>
          <a:xfrm>
            <a:off x="1920279" y="2563530"/>
            <a:ext cx="2693316" cy="2693316"/>
          </a:xfrm>
          <a:prstGeom prst="ellipse">
            <a:avLst/>
          </a:prstGeom>
          <a:solidFill>
            <a:srgbClr val="F5EC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Accuracy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Sensitivity</a:t>
            </a:r>
          </a:p>
          <a:p>
            <a:pPr algn="ctr">
              <a:lnSpc>
                <a:spcPct val="150000"/>
              </a:lnSpc>
            </a:pPr>
            <a:r>
              <a:rPr lang="en-US" altLang="ko-KR" sz="2800" b="1" dirty="0">
                <a:ln w="3175"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</a:rPr>
              <a:t>Specificity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E5F59-B31B-4B77-927E-FEDEF7684CF3}"/>
              </a:ext>
            </a:extLst>
          </p:cNvPr>
          <p:cNvSpPr txBox="1"/>
          <p:nvPr/>
        </p:nvSpPr>
        <p:spPr>
          <a:xfrm>
            <a:off x="4861022" y="2040310"/>
            <a:ext cx="24699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Post-pruning</a:t>
            </a:r>
            <a:endParaRPr lang="ko-KR" altLang="en-US" sz="28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ECCF12-D267-4BA1-A291-DF827651DC40}"/>
              </a:ext>
            </a:extLst>
          </p:cNvPr>
          <p:cNvSpPr txBox="1"/>
          <p:nvPr/>
        </p:nvSpPr>
        <p:spPr>
          <a:xfrm>
            <a:off x="7834657" y="2040310"/>
            <a:ext cx="2237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/>
              <a:t>Pre-pruning</a:t>
            </a:r>
            <a:endParaRPr lang="ko-KR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319745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Learning Curve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DF0D4BB-322B-4458-ADEC-9A10172EF2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50"/>
          <a:stretch/>
        </p:blipFill>
        <p:spPr>
          <a:xfrm>
            <a:off x="1586337" y="1072938"/>
            <a:ext cx="9019325" cy="542479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55A39FF8-0514-4FC8-AF0A-2EBFFD78F4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3369" y="4107948"/>
            <a:ext cx="3433355" cy="176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68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양쪽 모서리가 둥근 사각형 4">
            <a:extLst>
              <a:ext uri="{FF2B5EF4-FFF2-40B4-BE49-F238E27FC236}">
                <a16:creationId xmlns:a16="http://schemas.microsoft.com/office/drawing/2014/main" id="{CF9FA4D4-06FB-4650-93EF-D273DEF7CB43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238500" y="304406"/>
            <a:ext cx="5715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200" dirty="0">
                <a:latin typeface="맑은 고딕" panose="020B0503020000020004" pitchFamily="50" charset="-127"/>
                <a:cs typeface="Times New Roman" panose="02020603050405020304" pitchFamily="18" charset="0"/>
              </a:rPr>
              <a:t>Rules</a:t>
            </a:r>
            <a:endParaRPr lang="ko-KR" altLang="en-US" sz="32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84BE55C7-A88B-40F8-B1DA-F58A569C5E57}"/>
              </a:ext>
            </a:extLst>
          </p:cNvPr>
          <p:cNvCxnSpPr>
            <a:cxnSpLocks/>
          </p:cNvCxnSpPr>
          <p:nvPr/>
        </p:nvCxnSpPr>
        <p:spPr>
          <a:xfrm>
            <a:off x="8799209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015A934-86A8-4E44-BFD2-FB22528F51D1}"/>
              </a:ext>
            </a:extLst>
          </p:cNvPr>
          <p:cNvCxnSpPr>
            <a:cxnSpLocks/>
          </p:cNvCxnSpPr>
          <p:nvPr/>
        </p:nvCxnSpPr>
        <p:spPr>
          <a:xfrm rot="10800000">
            <a:off x="264023" y="596795"/>
            <a:ext cx="3132000" cy="0"/>
          </a:xfrm>
          <a:prstGeom prst="line">
            <a:avLst/>
          </a:prstGeom>
          <a:ln>
            <a:solidFill>
              <a:srgbClr val="F89403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7F3E97-226D-4AC9-8134-01CBD8F711B3}"/>
              </a:ext>
            </a:extLst>
          </p:cNvPr>
          <p:cNvSpPr/>
          <p:nvPr/>
        </p:nvSpPr>
        <p:spPr>
          <a:xfrm>
            <a:off x="183710" y="986202"/>
            <a:ext cx="11747499" cy="559826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dist="635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prstClr val="white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4D67E4-678D-4DDB-9EC4-F55EE42ABD9C}"/>
              </a:ext>
            </a:extLst>
          </p:cNvPr>
          <p:cNvSpPr txBox="1"/>
          <p:nvPr/>
        </p:nvSpPr>
        <p:spPr>
          <a:xfrm>
            <a:off x="297094" y="1181569"/>
            <a:ext cx="619785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rpart_tree_best</a:t>
            </a:r>
            <a:r>
              <a:rPr lang="ko-KR" altLang="en-US" sz="1400" dirty="0"/>
              <a:t> &lt;- </a:t>
            </a:r>
            <a:r>
              <a:rPr lang="ko-KR" altLang="en-US" sz="1400" dirty="0" err="1"/>
              <a:t>rpart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NObeyesdad</a:t>
            </a:r>
            <a:r>
              <a:rPr lang="ko-KR" altLang="en-US" sz="1400" dirty="0"/>
              <a:t>~.,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data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train</a:t>
            </a:r>
            <a:r>
              <a:rPr lang="ko-KR" altLang="en-US" sz="1400" dirty="0"/>
              <a:t>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parms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list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split</a:t>
            </a:r>
            <a:r>
              <a:rPr lang="ko-KR" altLang="en-US" sz="1400" dirty="0"/>
              <a:t> = '</a:t>
            </a:r>
            <a:r>
              <a:rPr lang="ko-KR" altLang="en-US" sz="1400" dirty="0" err="1"/>
              <a:t>gini</a:t>
            </a:r>
            <a:r>
              <a:rPr lang="ko-KR" altLang="en-US" sz="1400" dirty="0"/>
              <a:t>'),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cp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cp</a:t>
            </a:r>
            <a:r>
              <a:rPr lang="ko-KR" altLang="en-US" sz="1400" dirty="0"/>
              <a:t>_,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minsplit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minsplit</a:t>
            </a:r>
            <a:r>
              <a:rPr lang="ko-KR" altLang="en-US" sz="1400" dirty="0"/>
              <a:t>_,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minbucket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minbucket</a:t>
            </a:r>
            <a:r>
              <a:rPr lang="ko-KR" altLang="en-US" sz="1400" dirty="0"/>
              <a:t>_,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maxdepth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maxdepth</a:t>
            </a:r>
            <a:r>
              <a:rPr lang="ko-KR" altLang="en-US" sz="1400" dirty="0"/>
              <a:t>_,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maxcompete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maxcompete</a:t>
            </a:r>
            <a:r>
              <a:rPr lang="ko-KR" altLang="en-US" sz="1400" dirty="0"/>
              <a:t>_, 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maxsurrogate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maxsurrogate</a:t>
            </a:r>
            <a:r>
              <a:rPr lang="ko-KR" altLang="en-US" sz="1400" dirty="0"/>
              <a:t>_, 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usesurrogate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usesurrogate</a:t>
            </a:r>
            <a:r>
              <a:rPr lang="ko-KR" altLang="en-US" sz="1400" dirty="0"/>
              <a:t>_, 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xval</a:t>
            </a:r>
            <a:r>
              <a:rPr lang="ko-KR" altLang="en-US" sz="1400" dirty="0"/>
              <a:t> = 10,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method</a:t>
            </a:r>
            <a:r>
              <a:rPr lang="ko-KR" altLang="en-US" sz="1400" dirty="0"/>
              <a:t> = "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")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17E9C9E-38BD-45E9-8A46-CDE528928A5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"/>
          <a:stretch/>
        </p:blipFill>
        <p:spPr>
          <a:xfrm>
            <a:off x="3601616" y="2141518"/>
            <a:ext cx="8293290" cy="421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612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1FC1066E-5859-40AC-A7CC-5BA1B29C0107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96F85F92-F62A-4386-9326-8EA222EEB51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34"/>
          <a:stretch/>
        </p:blipFill>
        <p:spPr>
          <a:xfrm>
            <a:off x="367897" y="539204"/>
            <a:ext cx="8293290" cy="4214225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6DCABCFE-3B94-406D-BA30-CCF13AE592BB}"/>
              </a:ext>
            </a:extLst>
          </p:cNvPr>
          <p:cNvSpPr/>
          <p:nvPr/>
        </p:nvSpPr>
        <p:spPr>
          <a:xfrm>
            <a:off x="514547" y="4494362"/>
            <a:ext cx="3686518" cy="3364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1D8BCA-74C2-4C64-95CE-48F31D272B17}"/>
              </a:ext>
            </a:extLst>
          </p:cNvPr>
          <p:cNvSpPr/>
          <p:nvPr/>
        </p:nvSpPr>
        <p:spPr>
          <a:xfrm>
            <a:off x="367897" y="1506747"/>
            <a:ext cx="8431046" cy="43419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9AFBAD-02B1-469F-A1AA-5CBB2ECB5DCC}"/>
              </a:ext>
            </a:extLst>
          </p:cNvPr>
          <p:cNvSpPr txBox="1"/>
          <p:nvPr/>
        </p:nvSpPr>
        <p:spPr>
          <a:xfrm>
            <a:off x="4465607" y="4547726"/>
            <a:ext cx="163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전체 중 </a:t>
            </a:r>
            <a:r>
              <a:rPr lang="en-US" altLang="ko-KR" dirty="0">
                <a:solidFill>
                  <a:srgbClr val="FF0000"/>
                </a:solidFill>
              </a:rPr>
              <a:t>34%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A8E583-E57F-4251-BA85-66FC6BAB3A23}"/>
              </a:ext>
            </a:extLst>
          </p:cNvPr>
          <p:cNvSpPr txBox="1"/>
          <p:nvPr/>
        </p:nvSpPr>
        <p:spPr>
          <a:xfrm>
            <a:off x="8189343" y="1940943"/>
            <a:ext cx="163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전체 중 </a:t>
            </a:r>
            <a:r>
              <a:rPr lang="en-US" altLang="ko-KR" dirty="0">
                <a:solidFill>
                  <a:srgbClr val="FF0000"/>
                </a:solidFill>
              </a:rPr>
              <a:t>14%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D20FE-24D1-4BB3-BEC5-B7BB83AA7C60}"/>
              </a:ext>
            </a:extLst>
          </p:cNvPr>
          <p:cNvSpPr txBox="1"/>
          <p:nvPr/>
        </p:nvSpPr>
        <p:spPr>
          <a:xfrm>
            <a:off x="649856" y="5132989"/>
            <a:ext cx="8011331" cy="12464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Rules</a:t>
            </a:r>
            <a:r>
              <a:rPr lang="ko-KR" altLang="en-US" sz="1500" dirty="0"/>
              <a:t> 함수를 통해 알아본 모델의 가장 영향력 있는 </a:t>
            </a:r>
            <a:r>
              <a:rPr lang="en-US" altLang="ko-KR" sz="1500" dirty="0"/>
              <a:t>rules </a:t>
            </a:r>
          </a:p>
          <a:p>
            <a:endParaRPr lang="en-US" altLang="ko-KR" sz="1500" dirty="0"/>
          </a:p>
          <a:p>
            <a:r>
              <a:rPr lang="en-US" altLang="ko-KR" sz="1500" dirty="0"/>
              <a:t>When weight &gt;=99</a:t>
            </a:r>
            <a:r>
              <a:rPr lang="ko-KR" altLang="en-US" sz="1500" dirty="0"/>
              <a:t> </a:t>
            </a:r>
            <a:endParaRPr lang="en-US" altLang="ko-KR" sz="1500" dirty="0"/>
          </a:p>
          <a:p>
            <a:endParaRPr lang="en-US" altLang="ko-KR" sz="1500" dirty="0"/>
          </a:p>
          <a:p>
            <a:r>
              <a:rPr lang="en-US" altLang="ko-KR" sz="1500" dirty="0"/>
              <a:t>when weight is 72 to 90 &amp; height&gt;1.7&amp; </a:t>
            </a:r>
            <a:r>
              <a:rPr lang="en-US" altLang="ko-KR" sz="1500" dirty="0" err="1"/>
              <a:t>caec</a:t>
            </a:r>
            <a:r>
              <a:rPr lang="en-US" altLang="ko-KR" sz="1500" dirty="0"/>
              <a:t> is sometimes &amp; MTR is walking or bike 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4056100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CA91C535-FC44-46EC-86E1-5524EB1FAC79}"/>
              </a:ext>
            </a:extLst>
          </p:cNvPr>
          <p:cNvSpPr txBox="1"/>
          <p:nvPr/>
        </p:nvSpPr>
        <p:spPr>
          <a:xfrm>
            <a:off x="3025253" y="2921168"/>
            <a:ext cx="614149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6000" b="1" dirty="0">
                <a:ln w="15875">
                  <a:solidFill>
                    <a:srgbClr val="44546A">
                      <a:lumMod val="75000"/>
                    </a:srgbClr>
                  </a:solidFill>
                </a:ln>
                <a:solidFill>
                  <a:prstClr val="white"/>
                </a:solidFill>
                <a:effectLst>
                  <a:outerShdw dist="38100" dir="2700000" algn="tl" rotWithShape="0">
                    <a:srgbClr val="44546A">
                      <a:lumMod val="75000"/>
                    </a:srgbClr>
                  </a:outerShdw>
                </a:effectLst>
                <a:latin typeface="Impact" panose="020B0806030902050204" pitchFamily="34" charset="0"/>
              </a:rPr>
              <a:t>감사합니다</a:t>
            </a:r>
            <a:endParaRPr lang="ko-KR" altLang="en-US" sz="4000" b="1" dirty="0">
              <a:ln w="15875">
                <a:solidFill>
                  <a:srgbClr val="44546A">
                    <a:lumMod val="75000"/>
                  </a:srgbClr>
                </a:solidFill>
              </a:ln>
              <a:solidFill>
                <a:srgbClr val="F89403"/>
              </a:solidFill>
              <a:effectLst>
                <a:outerShdw dist="38100" dir="2700000" algn="tl" rotWithShape="0">
                  <a:srgbClr val="44546A">
                    <a:lumMod val="75000"/>
                  </a:srgbClr>
                </a:outerShdw>
              </a:effectLst>
              <a:latin typeface="Impact" panose="020B0806030902050204" pitchFamily="34" charset="0"/>
            </a:endParaRPr>
          </a:p>
        </p:txBody>
      </p:sp>
      <p:sp>
        <p:nvSpPr>
          <p:cNvPr id="7" name="양쪽 모서리가 둥근 사각형 4">
            <a:extLst>
              <a:ext uri="{FF2B5EF4-FFF2-40B4-BE49-F238E27FC236}">
                <a16:creationId xmlns:a16="http://schemas.microsoft.com/office/drawing/2014/main" id="{1FC1066E-5859-40AC-A7CC-5BA1B29C0107}"/>
              </a:ext>
            </a:extLst>
          </p:cNvPr>
          <p:cNvSpPr/>
          <p:nvPr/>
        </p:nvSpPr>
        <p:spPr>
          <a:xfrm>
            <a:off x="228600" y="-1"/>
            <a:ext cx="11747499" cy="207389"/>
          </a:xfrm>
          <a:prstGeom prst="round2SameRect">
            <a:avLst>
              <a:gd name="adj1" fmla="val 0"/>
              <a:gd name="adj2" fmla="val 45098"/>
            </a:avLst>
          </a:prstGeom>
          <a:solidFill>
            <a:srgbClr val="F89403"/>
          </a:solidFill>
          <a:ln w="25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3" algn="ctr">
              <a:defRPr/>
            </a:pPr>
            <a:r>
              <a:rPr lang="ko-KR" altLang="en-US" sz="700" dirty="0" err="1">
                <a:solidFill>
                  <a:prstClr val="white"/>
                </a:solidFill>
              </a:rPr>
              <a:t>데이터사이언스기초</a:t>
            </a:r>
            <a:endParaRPr lang="en-US" altLang="ko-KR" sz="70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8460530"/>
      </p:ext>
    </p:extLst>
  </p:cSld>
  <p:clrMapOvr>
    <a:masterClrMapping/>
  </p:clrMapOvr>
</p:sld>
</file>

<file path=ppt/theme/theme1.xml><?xml version="1.0" encoding="utf-8"?>
<a:theme xmlns:a="http://schemas.openxmlformats.org/drawingml/2006/main" name="48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</TotalTime>
  <Words>325</Words>
  <Application>Microsoft Office PowerPoint</Application>
  <PresentationFormat>와이드스크린</PresentationFormat>
  <Paragraphs>110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22" baseType="lpstr">
      <vt:lpstr>Arial Unicode MS</vt:lpstr>
      <vt:lpstr>Helvetica Neue</vt:lpstr>
      <vt:lpstr>맑은 고딕</vt:lpstr>
      <vt:lpstr>맑은 고딕</vt:lpstr>
      <vt:lpstr>Arial</vt:lpstr>
      <vt:lpstr>Impact</vt:lpstr>
      <vt:lpstr>Wingdings</vt:lpstr>
      <vt:lpstr>48_Office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조현석</dc:creator>
  <cp:lastModifiedBy>류호원(***8***020)</cp:lastModifiedBy>
  <cp:revision>28</cp:revision>
  <dcterms:created xsi:type="dcterms:W3CDTF">2022-03-19T04:42:19Z</dcterms:created>
  <dcterms:modified xsi:type="dcterms:W3CDTF">2022-04-05T11:33:34Z</dcterms:modified>
</cp:coreProperties>
</file>