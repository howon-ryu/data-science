
<file path=[Content_Types].xml><?xml version="1.0" encoding="utf-8"?>
<Types xmlns="http://schemas.openxmlformats.org/package/2006/content-types">
  <Default Extension="png" ContentType="image/png"/>
  <Default Extension="m4a" ContentType="audio/mp4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08" r:id="rId1"/>
  </p:sldMasterIdLst>
  <p:notesMasterIdLst>
    <p:notesMasterId r:id="rId8"/>
  </p:notesMasterIdLst>
  <p:handoutMasterIdLst>
    <p:handoutMasterId r:id="rId9"/>
  </p:handoutMasterIdLst>
  <p:sldIdLst>
    <p:sldId id="907" r:id="rId2"/>
    <p:sldId id="964" r:id="rId3"/>
    <p:sldId id="965" r:id="rId4"/>
    <p:sldId id="963" r:id="rId5"/>
    <p:sldId id="966" r:id="rId6"/>
    <p:sldId id="967" r:id="rId7"/>
  </p:sldIdLst>
  <p:sldSz cx="9144000" cy="6858000" type="screen4x3"/>
  <p:notesSz cx="6797675" cy="99266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1" hangingPunct="1"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1" hangingPunct="1"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1" hangingPunct="1"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1" hangingPunct="1">
      <a:defRPr sz="28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6FAFB"/>
    <a:srgbClr val="F6F5F0"/>
    <a:srgbClr val="F1F0E7"/>
    <a:srgbClr val="0000CC"/>
    <a:srgbClr val="FFFFCC"/>
    <a:srgbClr val="800000"/>
    <a:srgbClr val="FF0000"/>
    <a:srgbClr val="996633"/>
    <a:srgbClr val="CC66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95" autoAdjust="0"/>
    <p:restoredTop sz="94212" autoAdjust="0"/>
  </p:normalViewPr>
  <p:slideViewPr>
    <p:cSldViewPr snapToGrid="0">
      <p:cViewPr varScale="1">
        <p:scale>
          <a:sx n="81" d="100"/>
          <a:sy n="81" d="100"/>
        </p:scale>
        <p:origin x="1272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14"/>
    </p:cViewPr>
  </p:sorterViewPr>
  <p:notesViewPr>
    <p:cSldViewPr snapToGrid="0">
      <p:cViewPr varScale="1">
        <p:scale>
          <a:sx n="51" d="100"/>
          <a:sy n="51" d="100"/>
        </p:scale>
        <p:origin x="-2994" y="-96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43" tIns="45222" rIns="90443" bIns="45222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lnSpc>
                <a:spcPct val="100000"/>
              </a:lnSpc>
              <a:buFontTx/>
              <a:buNone/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88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43" tIns="45222" rIns="90443" bIns="45222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lnSpc>
                <a:spcPct val="100000"/>
              </a:lnSpc>
              <a:buFontTx/>
              <a:buNone/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88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4813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43" tIns="45222" rIns="90443" bIns="45222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lnSpc>
                <a:spcPct val="100000"/>
              </a:lnSpc>
              <a:buFontTx/>
              <a:buNone/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88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8163"/>
            <a:ext cx="2944813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43" tIns="45222" rIns="90443" bIns="45222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b="0">
                <a:latin typeface="굴림" pitchFamily="50" charset="-127"/>
              </a:defRPr>
            </a:lvl1pPr>
          </a:lstStyle>
          <a:p>
            <a:fld id="{029B5DF7-A160-48B6-B5E7-6083A9C70A6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67818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3" tIns="47781" rIns="95563" bIns="47781" numCol="1" anchor="t" anchorCtr="0" compatLnSpc="1">
            <a:prstTxWarp prst="textNoShape">
              <a:avLst/>
            </a:prstTxWarp>
          </a:bodyPr>
          <a:lstStyle>
            <a:lvl1pPr defTabSz="956250" eaLnBrk="1" latinLnBrk="1" hangingPunct="1">
              <a:lnSpc>
                <a:spcPct val="100000"/>
              </a:lnSpc>
              <a:buFontTx/>
              <a:buNone/>
              <a:defRPr sz="13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3" tIns="47781" rIns="95563" bIns="47781" numCol="1" anchor="t" anchorCtr="0" compatLnSpc="1">
            <a:prstTxWarp prst="textNoShape">
              <a:avLst/>
            </a:prstTxWarp>
          </a:bodyPr>
          <a:lstStyle>
            <a:lvl1pPr algn="r" defTabSz="956250" eaLnBrk="1" latinLnBrk="1" hangingPunct="1">
              <a:lnSpc>
                <a:spcPct val="100000"/>
              </a:lnSpc>
              <a:buFontTx/>
              <a:buNone/>
              <a:defRPr sz="13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6093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3" tIns="47781" rIns="95563" bIns="477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4813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3" tIns="47781" rIns="95563" bIns="47781" numCol="1" anchor="b" anchorCtr="0" compatLnSpc="1">
            <a:prstTxWarp prst="textNoShape">
              <a:avLst/>
            </a:prstTxWarp>
          </a:bodyPr>
          <a:lstStyle>
            <a:lvl1pPr defTabSz="956250" eaLnBrk="1" latinLnBrk="1" hangingPunct="1">
              <a:lnSpc>
                <a:spcPct val="100000"/>
              </a:lnSpc>
              <a:buFontTx/>
              <a:buNone/>
              <a:defRPr sz="13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8163"/>
            <a:ext cx="2944813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3" tIns="47781" rIns="95563" bIns="47781" numCol="1" anchor="b" anchorCtr="0" compatLnSpc="1">
            <a:prstTxWarp prst="textNoShape">
              <a:avLst/>
            </a:prstTxWarp>
          </a:bodyPr>
          <a:lstStyle>
            <a:lvl1pPr algn="r" defTabSz="955675" eaLnBrk="1" latinLnBrk="1" hangingPunct="1">
              <a:defRPr sz="1300" b="0">
                <a:latin typeface="굴림" pitchFamily="50" charset="-127"/>
              </a:defRPr>
            </a:lvl1pPr>
          </a:lstStyle>
          <a:p>
            <a:fld id="{007EA284-381E-441F-9F8E-5509160CBAD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573857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굴림" charset="0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굴림" charset="0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굴림" charset="0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굴림" charset="0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굴림" charset="0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55675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7EA284-381E-441F-9F8E-5509160CBAD9}" type="slidenum">
              <a:rPr kumimoji="1" lang="en-US" altLang="ko-KR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55675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en-US" altLang="ko-KR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2941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5517232"/>
            <a:ext cx="9144000" cy="1368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350" dirty="0"/>
          </a:p>
        </p:txBody>
      </p:sp>
      <p:sp>
        <p:nvSpPr>
          <p:cNvPr id="8" name="제목 13"/>
          <p:cNvSpPr>
            <a:spLocks noGrp="1"/>
          </p:cNvSpPr>
          <p:nvPr>
            <p:ph type="title"/>
          </p:nvPr>
        </p:nvSpPr>
        <p:spPr>
          <a:xfrm>
            <a:off x="251520" y="5709740"/>
            <a:ext cx="8229600" cy="1031628"/>
          </a:xfrm>
        </p:spPr>
        <p:txBody>
          <a:bodyPr/>
          <a:lstStyle>
            <a:lvl1pPr algn="l">
              <a:defRPr sz="3300" b="0">
                <a:solidFill>
                  <a:schemeClr val="bg1"/>
                </a:solidFill>
                <a:latin typeface="나눔손글씨 펜" pitchFamily="66" charset="-127"/>
                <a:ea typeface="나눔손글씨 펜" pitchFamily="66" charset="-127"/>
              </a:defRPr>
            </a:lvl1pPr>
          </a:lstStyle>
          <a:p>
            <a:r>
              <a:rPr lang="en-US" altLang="ko-KR" dirty="0"/>
              <a:t>Click to edit Master title style</a:t>
            </a:r>
            <a:endParaRPr lang="ko-KR" altLang="en-US" dirty="0"/>
          </a:p>
        </p:txBody>
      </p:sp>
      <p:sp>
        <p:nvSpPr>
          <p:cNvPr id="2" name="직사각형 1"/>
          <p:cNvSpPr/>
          <p:nvPr userDrawn="1"/>
        </p:nvSpPr>
        <p:spPr>
          <a:xfrm>
            <a:off x="3275856" y="5013176"/>
            <a:ext cx="822970" cy="2602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" name="TextBox 3"/>
          <p:cNvSpPr txBox="1"/>
          <p:nvPr userDrawn="1"/>
        </p:nvSpPr>
        <p:spPr>
          <a:xfrm>
            <a:off x="179514" y="3501008"/>
            <a:ext cx="3168352" cy="2016224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Autofit/>
          </a:bodyPr>
          <a:lstStyle/>
          <a:p>
            <a:pPr>
              <a:lnSpc>
                <a:spcPts val="4050"/>
              </a:lnSpc>
            </a:pPr>
            <a:r>
              <a:rPr lang="en-US" altLang="ko-KR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br>
              <a:rPr lang="en-US" altLang="ko-KR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Science</a:t>
            </a:r>
            <a:endParaRPr lang="ko-KR" altLang="en-US" sz="36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048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3"/>
          <p:cNvSpPr>
            <a:spLocks noGrp="1"/>
          </p:cNvSpPr>
          <p:nvPr>
            <p:ph type="title"/>
          </p:nvPr>
        </p:nvSpPr>
        <p:spPr>
          <a:xfrm>
            <a:off x="1199976" y="2348880"/>
            <a:ext cx="5100216" cy="1031628"/>
          </a:xfrm>
        </p:spPr>
        <p:txBody>
          <a:bodyPr/>
          <a:lstStyle>
            <a:lvl1pPr algn="l">
              <a:defRPr sz="3300" b="0">
                <a:solidFill>
                  <a:schemeClr val="accent5">
                    <a:lumMod val="50000"/>
                  </a:schemeClr>
                </a:solidFill>
                <a:latin typeface="나눔손글씨 펜" pitchFamily="66" charset="-127"/>
                <a:ea typeface="나눔손글씨 펜" pitchFamily="66" charset="-127"/>
              </a:defRPr>
            </a:lvl1pPr>
          </a:lstStyle>
          <a:p>
            <a:r>
              <a:rPr lang="en-US" altLang="ko-KR" dirty="0"/>
              <a:t>Click to edit Master title style</a:t>
            </a:r>
            <a:endParaRPr lang="ko-KR" altLang="en-US" dirty="0"/>
          </a:p>
        </p:txBody>
      </p:sp>
      <p:sp>
        <p:nvSpPr>
          <p:cNvPr id="13" name="직사각형 12"/>
          <p:cNvSpPr/>
          <p:nvPr userDrawn="1"/>
        </p:nvSpPr>
        <p:spPr>
          <a:xfrm>
            <a:off x="6410942" y="3284984"/>
            <a:ext cx="465315" cy="496808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4" name="직사각형 13"/>
          <p:cNvSpPr/>
          <p:nvPr userDrawn="1"/>
        </p:nvSpPr>
        <p:spPr>
          <a:xfrm>
            <a:off x="7219875" y="1939427"/>
            <a:ext cx="303684" cy="303023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0" name="직사각형 9"/>
          <p:cNvSpPr/>
          <p:nvPr userDrawn="1"/>
        </p:nvSpPr>
        <p:spPr>
          <a:xfrm>
            <a:off x="912346" y="2203146"/>
            <a:ext cx="5747891" cy="1328780"/>
          </a:xfrm>
          <a:prstGeom prst="rect">
            <a:avLst/>
          </a:prstGeom>
          <a:noFill/>
          <a:ln w="1270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7" name="직사각형 16"/>
          <p:cNvSpPr/>
          <p:nvPr userDrawn="1"/>
        </p:nvSpPr>
        <p:spPr>
          <a:xfrm>
            <a:off x="6848475" y="1609727"/>
            <a:ext cx="511902" cy="468119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70EE4D-6C53-4FB9-B41A-DAFCE6CB5BF6}"/>
              </a:ext>
            </a:extLst>
          </p:cNvPr>
          <p:cNvSpPr txBox="1"/>
          <p:nvPr userDrawn="1"/>
        </p:nvSpPr>
        <p:spPr>
          <a:xfrm>
            <a:off x="844379" y="1536890"/>
            <a:ext cx="4392486" cy="613792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Autofit/>
          </a:bodyPr>
          <a:lstStyle/>
          <a:p>
            <a:pPr>
              <a:lnSpc>
                <a:spcPts val="4050"/>
              </a:lnSpc>
            </a:pPr>
            <a:r>
              <a:rPr lang="en-US" altLang="ko-KR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Science</a:t>
            </a:r>
            <a:endParaRPr lang="ko-KR" altLang="en-US" sz="36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347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620688"/>
            <a:ext cx="734481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100" spc="-113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5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차례</a:t>
            </a:r>
          </a:p>
        </p:txBody>
      </p:sp>
      <p:sp>
        <p:nvSpPr>
          <p:cNvPr id="11" name="모서리가 둥근 직사각형 8"/>
          <p:cNvSpPr/>
          <p:nvPr userDrawn="1"/>
        </p:nvSpPr>
        <p:spPr>
          <a:xfrm>
            <a:off x="323528" y="404816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35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 hasCustomPrompt="1"/>
          </p:nvPr>
        </p:nvSpPr>
        <p:spPr>
          <a:xfrm>
            <a:off x="755576" y="1412776"/>
            <a:ext cx="7776864" cy="4680520"/>
          </a:xfrm>
        </p:spPr>
        <p:txBody>
          <a:bodyPr/>
          <a:lstStyle>
            <a:lvl1pPr marL="342892" indent="-342892">
              <a:buFont typeface="+mj-lt"/>
              <a:buAutoNum type="arabicPeriod"/>
              <a:defRPr sz="1500"/>
            </a:lvl1pPr>
            <a:lvl2pPr marL="407184" indent="-207164">
              <a:buClr>
                <a:schemeClr val="accent3">
                  <a:lumMod val="75000"/>
                </a:schemeClr>
              </a:buClr>
              <a:buFont typeface="나눔손글씨 펜" pitchFamily="66" charset="-127"/>
              <a:buChar char="→"/>
              <a:defRPr sz="1350">
                <a:latin typeface="나눔손글씨 펜" pitchFamily="66" charset="-127"/>
                <a:ea typeface="나눔손글씨 펜" pitchFamily="66" charset="-127"/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  <a:r>
              <a:rPr lang="en-US" altLang="ko-KR" dirty="0"/>
              <a:t>.</a:t>
            </a:r>
            <a:endParaRPr lang="ko-KR" altLang="en-US" dirty="0"/>
          </a:p>
          <a:p>
            <a:pPr lvl="1"/>
            <a:r>
              <a:rPr lang="ko-KR" altLang="en-US" dirty="0"/>
              <a:t> 둘째 수준</a:t>
            </a:r>
          </a:p>
        </p:txBody>
      </p:sp>
    </p:spTree>
    <p:extLst>
      <p:ext uri="{BB962C8B-B14F-4D97-AF65-F5344CB8AC3E}">
        <p14:creationId xmlns:p14="http://schemas.microsoft.com/office/powerpoint/2010/main" val="2686189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>
            <a:extLst>
              <a:ext uri="{FF2B5EF4-FFF2-40B4-BE49-F238E27FC236}">
                <a16:creationId xmlns:a16="http://schemas.microsoft.com/office/drawing/2014/main" id="{7C743CE9-335C-41F5-80A4-C58F59710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4" y="144016"/>
            <a:ext cx="8784976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CFF52A63-678C-4FE1-ACA9-6F0AEA5E641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79516" y="940768"/>
            <a:ext cx="8784977" cy="5688632"/>
          </a:xfrm>
        </p:spPr>
        <p:txBody>
          <a:bodyPr/>
          <a:lstStyle>
            <a:lvl1pPr marL="257168" indent="-257168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n"/>
              <a:defRPr sz="2400" b="0">
                <a:latin typeface="+mn-ea"/>
                <a:ea typeface="+mn-ea"/>
              </a:defRPr>
            </a:lvl1pPr>
            <a:lvl2pPr marL="335747" indent="-135728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800"/>
            </a:lvl2pPr>
            <a:lvl3pPr marL="471476" indent="-135728">
              <a:spcAft>
                <a:spcPts val="225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800"/>
            </a:lvl3pPr>
            <a:lvl4pPr marL="607204" indent="-135728">
              <a:spcAft>
                <a:spcPts val="225"/>
              </a:spcAft>
              <a:buSzPct val="96000"/>
              <a:defRPr sz="1600"/>
            </a:lvl4pPr>
            <a:lvl5pPr marL="742931" indent="-135728"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AA21CFB-5BF4-442E-BE2C-93CB83407F7B}"/>
              </a:ext>
            </a:extLst>
          </p:cNvPr>
          <p:cNvGrpSpPr/>
          <p:nvPr userDrawn="1"/>
        </p:nvGrpSpPr>
        <p:grpSpPr>
          <a:xfrm>
            <a:off x="0" y="768980"/>
            <a:ext cx="9144000" cy="0"/>
            <a:chOff x="0" y="685800"/>
            <a:chExt cx="12192000" cy="0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4F5A8C70-0852-452F-9D5D-A53B7BA44C24}"/>
                </a:ext>
              </a:extLst>
            </p:cNvPr>
            <p:cNvCxnSpPr/>
            <p:nvPr userDrawn="1"/>
          </p:nvCxnSpPr>
          <p:spPr>
            <a:xfrm>
              <a:off x="2832992" y="685800"/>
              <a:ext cx="3119669" cy="0"/>
            </a:xfrm>
            <a:prstGeom prst="line">
              <a:avLst/>
            </a:prstGeom>
            <a:ln w="76200">
              <a:solidFill>
                <a:schemeClr val="tx2">
                  <a:lumMod val="40000"/>
                  <a:lumOff val="6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46DF4EB0-6469-4B24-ABC3-B1D524CFF573}"/>
                </a:ext>
              </a:extLst>
            </p:cNvPr>
            <p:cNvCxnSpPr/>
            <p:nvPr userDrawn="1"/>
          </p:nvCxnSpPr>
          <p:spPr>
            <a:xfrm>
              <a:off x="5952662" y="685800"/>
              <a:ext cx="3119669" cy="0"/>
            </a:xfrm>
            <a:prstGeom prst="line">
              <a:avLst/>
            </a:prstGeom>
            <a:ln w="76200">
              <a:solidFill>
                <a:schemeClr val="tx2">
                  <a:lumMod val="20000"/>
                  <a:lumOff val="8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414D31B4-2D1A-45A1-B619-8A095FE7E437}"/>
                </a:ext>
              </a:extLst>
            </p:cNvPr>
            <p:cNvCxnSpPr/>
            <p:nvPr userDrawn="1"/>
          </p:nvCxnSpPr>
          <p:spPr>
            <a:xfrm>
              <a:off x="9072331" y="685800"/>
              <a:ext cx="3119669" cy="0"/>
            </a:xfrm>
            <a:prstGeom prst="line">
              <a:avLst/>
            </a:prstGeom>
            <a:ln w="76200">
              <a:solidFill>
                <a:srgbClr val="F6F5EE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A5E6748C-3281-435B-99FD-848890E25597}"/>
                </a:ext>
              </a:extLst>
            </p:cNvPr>
            <p:cNvCxnSpPr/>
            <p:nvPr userDrawn="1"/>
          </p:nvCxnSpPr>
          <p:spPr>
            <a:xfrm>
              <a:off x="0" y="685800"/>
              <a:ext cx="3119669" cy="0"/>
            </a:xfrm>
            <a:prstGeom prst="line">
              <a:avLst/>
            </a:prstGeom>
            <a:ln w="762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53943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124744" y="764704"/>
            <a:ext cx="2339752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4464498" y="764704"/>
            <a:ext cx="2339752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6804249" y="764704"/>
            <a:ext cx="2339752" cy="0"/>
          </a:xfrm>
          <a:prstGeom prst="line">
            <a:avLst/>
          </a:prstGeom>
          <a:ln w="76200">
            <a:solidFill>
              <a:schemeClr val="accent6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0" y="764704"/>
            <a:ext cx="2339752" cy="0"/>
          </a:xfrm>
          <a:prstGeom prst="line">
            <a:avLst/>
          </a:prstGeom>
          <a:ln w="762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40E4D8B6-27C6-4258-9B80-EDA486FA3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4" y="144016"/>
            <a:ext cx="8784976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C56DD780-700F-4EDA-91AB-AE8E9D4C6F7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79516" y="940768"/>
            <a:ext cx="8784977" cy="5688632"/>
          </a:xfrm>
        </p:spPr>
        <p:txBody>
          <a:bodyPr/>
          <a:lstStyle>
            <a:lvl1pPr marL="257168" indent="-257168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n"/>
              <a:defRPr sz="1800" b="0">
                <a:latin typeface="+mn-ea"/>
                <a:ea typeface="+mn-ea"/>
              </a:defRPr>
            </a:lvl1pPr>
            <a:lvl2pPr marL="335747" indent="-135728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600"/>
            </a:lvl2pPr>
            <a:lvl3pPr marL="471476" indent="-135728">
              <a:spcAft>
                <a:spcPts val="225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600"/>
            </a:lvl3pPr>
            <a:lvl4pPr marL="607204" indent="-135728">
              <a:spcAft>
                <a:spcPts val="225"/>
              </a:spcAft>
              <a:buSzPct val="96000"/>
              <a:defRPr sz="1200"/>
            </a:lvl4pPr>
            <a:lvl5pPr marL="742931" indent="-135728">
              <a:defRPr sz="12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22319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71610A46-E581-4FF7-95BD-D465BDDF7D5A}"/>
              </a:ext>
            </a:extLst>
          </p:cNvPr>
          <p:cNvGrpSpPr/>
          <p:nvPr userDrawn="1"/>
        </p:nvGrpSpPr>
        <p:grpSpPr>
          <a:xfrm>
            <a:off x="0" y="768980"/>
            <a:ext cx="9144000" cy="0"/>
            <a:chOff x="0" y="908051"/>
            <a:chExt cx="12192000" cy="0"/>
          </a:xfrm>
        </p:grpSpPr>
        <p:cxnSp>
          <p:nvCxnSpPr>
            <p:cNvPr id="9" name="직선 연결선 8"/>
            <p:cNvCxnSpPr/>
            <p:nvPr userDrawn="1"/>
          </p:nvCxnSpPr>
          <p:spPr>
            <a:xfrm>
              <a:off x="2832992" y="908051"/>
              <a:ext cx="3119669" cy="0"/>
            </a:xfrm>
            <a:prstGeom prst="line">
              <a:avLst/>
            </a:prstGeom>
            <a:ln w="76200">
              <a:solidFill>
                <a:schemeClr val="tx2">
                  <a:lumMod val="40000"/>
                  <a:lumOff val="6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 userDrawn="1"/>
          </p:nvCxnSpPr>
          <p:spPr>
            <a:xfrm>
              <a:off x="5952662" y="908051"/>
              <a:ext cx="3119669" cy="0"/>
            </a:xfrm>
            <a:prstGeom prst="line">
              <a:avLst/>
            </a:prstGeom>
            <a:ln w="76200">
              <a:solidFill>
                <a:schemeClr val="tx2">
                  <a:lumMod val="20000"/>
                  <a:lumOff val="8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 userDrawn="1"/>
          </p:nvCxnSpPr>
          <p:spPr>
            <a:xfrm>
              <a:off x="9072331" y="908051"/>
              <a:ext cx="3119669" cy="0"/>
            </a:xfrm>
            <a:prstGeom prst="line">
              <a:avLst/>
            </a:prstGeom>
            <a:ln w="76200">
              <a:solidFill>
                <a:schemeClr val="bg2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 userDrawn="1"/>
          </p:nvCxnSpPr>
          <p:spPr>
            <a:xfrm>
              <a:off x="0" y="908051"/>
              <a:ext cx="3119669" cy="0"/>
            </a:xfrm>
            <a:prstGeom prst="line">
              <a:avLst/>
            </a:prstGeom>
            <a:ln w="762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C5E1F25A-9609-4834-9F3B-F6CCF893F32B}"/>
              </a:ext>
            </a:extLst>
          </p:cNvPr>
          <p:cNvCxnSpPr/>
          <p:nvPr userDrawn="1"/>
        </p:nvCxnSpPr>
        <p:spPr>
          <a:xfrm>
            <a:off x="0" y="764704"/>
            <a:ext cx="2339752" cy="0"/>
          </a:xfrm>
          <a:prstGeom prst="line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제목 1">
            <a:extLst>
              <a:ext uri="{FF2B5EF4-FFF2-40B4-BE49-F238E27FC236}">
                <a16:creationId xmlns:a16="http://schemas.microsoft.com/office/drawing/2014/main" id="{83265071-C929-4306-848C-8624621BF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4" y="144016"/>
            <a:ext cx="8784976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6A393B8E-A3FA-4F38-8507-E1B7CF365D3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79516" y="940768"/>
            <a:ext cx="8784977" cy="5688632"/>
          </a:xfrm>
        </p:spPr>
        <p:txBody>
          <a:bodyPr/>
          <a:lstStyle>
            <a:lvl1pPr marL="257168" indent="-257168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n"/>
              <a:defRPr sz="1800" b="0">
                <a:latin typeface="+mn-ea"/>
                <a:ea typeface="+mn-ea"/>
              </a:defRPr>
            </a:lvl1pPr>
            <a:lvl2pPr marL="335747" indent="-135728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600"/>
            </a:lvl2pPr>
            <a:lvl3pPr marL="471476" indent="-135728">
              <a:spcAft>
                <a:spcPts val="225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600"/>
            </a:lvl3pPr>
            <a:lvl4pPr marL="607204" indent="-135728">
              <a:spcAft>
                <a:spcPts val="225"/>
              </a:spcAft>
              <a:buSzPct val="96000"/>
              <a:defRPr sz="1200"/>
            </a:lvl4pPr>
            <a:lvl5pPr marL="742931" indent="-135728">
              <a:defRPr sz="12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86189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본문- 일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9"/>
          <p:cNvSpPr>
            <a:spLocks noChangeShapeType="1"/>
          </p:cNvSpPr>
          <p:nvPr userDrawn="1"/>
        </p:nvSpPr>
        <p:spPr bwMode="auto">
          <a:xfrm>
            <a:off x="234950" y="631825"/>
            <a:ext cx="8674100" cy="0"/>
          </a:xfrm>
          <a:prstGeom prst="line">
            <a:avLst/>
          </a:prstGeom>
          <a:noFill/>
          <a:ln w="28575" cmpd="thinThick">
            <a:solidFill>
              <a:srgbClr val="33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" name="Line 10"/>
          <p:cNvSpPr>
            <a:spLocks noChangeShapeType="1"/>
          </p:cNvSpPr>
          <p:nvPr userDrawn="1"/>
        </p:nvSpPr>
        <p:spPr bwMode="auto">
          <a:xfrm>
            <a:off x="273906" y="6410325"/>
            <a:ext cx="8596188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7671" y="714356"/>
            <a:ext cx="8548659" cy="5594964"/>
          </a:xfrm>
        </p:spPr>
        <p:txBody>
          <a:bodyPr/>
          <a:lstStyle>
            <a:lvl1pPr>
              <a:lnSpc>
                <a:spcPct val="150000"/>
              </a:lnSpc>
              <a:buFont typeface="Wingdings" pitchFamily="2" charset="2"/>
              <a:buChar char="v"/>
              <a:defRPr sz="2000" b="1"/>
            </a:lvl1pPr>
            <a:lvl2pPr marL="628650" indent="-266700">
              <a:lnSpc>
                <a:spcPct val="150000"/>
              </a:lnSpc>
              <a:buFont typeface="맑은 고딕" pitchFamily="50" charset="-127"/>
              <a:buChar char="-"/>
              <a:defRPr sz="1800"/>
            </a:lvl2pPr>
            <a:lvl3pPr marL="987425" indent="-268288">
              <a:lnSpc>
                <a:spcPct val="150000"/>
              </a:lnSpc>
              <a:buFont typeface="Wingdings" pitchFamily="2" charset="2"/>
              <a:buChar char="ü"/>
              <a:defRPr sz="1800">
                <a:solidFill>
                  <a:srgbClr val="0000CC"/>
                </a:solidFill>
              </a:defRPr>
            </a:lvl3pPr>
            <a:lvl4pPr marL="1254125" indent="-265113">
              <a:buFont typeface="Wingdings" pitchFamily="2" charset="2"/>
              <a:buChar char="§"/>
              <a:defRPr sz="1600"/>
            </a:lvl4pPr>
            <a:lvl5pPr>
              <a:buFont typeface="Wingdings" pitchFamily="2" charset="2"/>
              <a:buChar char="v"/>
              <a:defRPr sz="20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  <a:endParaRPr lang="en-US" altLang="ko-KR" dirty="0"/>
          </a:p>
          <a:p>
            <a:pPr lvl="2"/>
            <a:r>
              <a:rPr lang="ko-KR" altLang="en-US" dirty="0"/>
              <a:t>셋째 수준</a:t>
            </a:r>
            <a:endParaRPr lang="en-US" altLang="ko-KR" dirty="0"/>
          </a:p>
          <a:p>
            <a:pPr lvl="3"/>
            <a:r>
              <a:rPr lang="ko-KR" altLang="en-US" dirty="0"/>
              <a:t>넷째 수준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214282" y="0"/>
            <a:ext cx="7188200" cy="620713"/>
          </a:xfrm>
        </p:spPr>
        <p:txBody>
          <a:bodyPr/>
          <a:lstStyle>
            <a:lvl1pPr algn="l">
              <a:defRPr sz="2400">
                <a:solidFill>
                  <a:schemeClr val="accent6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010400" y="6453188"/>
            <a:ext cx="2133600" cy="404812"/>
          </a:xfrm>
        </p:spPr>
        <p:txBody>
          <a:bodyPr anchor="b"/>
          <a:lstStyle>
            <a:lvl1pPr algn="r">
              <a:defRPr/>
            </a:lvl1pPr>
          </a:lstStyle>
          <a:p>
            <a:fld id="{DCB04513-4967-41A0-A617-A892DA116575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85169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1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1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75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750"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50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750"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25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750"/>
            </a:lvl1pPr>
          </a:lstStyle>
          <a:p>
            <a:fld id="{26F96D2C-968B-4D82-9432-F9D4FB76F3D6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10" name="슬라이드 번호 개체 틀 10">
            <a:extLst>
              <a:ext uri="{FF2B5EF4-FFF2-40B4-BE49-F238E27FC236}">
                <a16:creationId xmlns:a16="http://schemas.microsoft.com/office/drawing/2014/main" id="{F9DAEF82-3923-4964-B1DC-CAF1E34C7C8F}"/>
              </a:ext>
            </a:extLst>
          </p:cNvPr>
          <p:cNvSpPr txBox="1">
            <a:spLocks/>
          </p:cNvSpPr>
          <p:nvPr/>
        </p:nvSpPr>
        <p:spPr>
          <a:xfrm>
            <a:off x="8686800" y="6525349"/>
            <a:ext cx="457200" cy="33265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F16F3F38-2CD8-4BF4-9F2D-91FBEF0475AD}" type="slidenum">
              <a:rPr lang="en-US" altLang="ko-KR" sz="1350" smtClean="0"/>
              <a:pPr algn="r">
                <a:defRPr/>
              </a:pPr>
              <a:t>‹#›</a:t>
            </a:fld>
            <a:endParaRPr lang="en-US" altLang="ko-KR" sz="1350" dirty="0"/>
          </a:p>
        </p:txBody>
      </p:sp>
    </p:spTree>
    <p:extLst>
      <p:ext uri="{BB962C8B-B14F-4D97-AF65-F5344CB8AC3E}">
        <p14:creationId xmlns:p14="http://schemas.microsoft.com/office/powerpoint/2010/main" val="233076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99" r:id="rId1"/>
    <p:sldLayoutId id="2147484400" r:id="rId2"/>
    <p:sldLayoutId id="2147484401" r:id="rId3"/>
    <p:sldLayoutId id="2147484402" r:id="rId4"/>
    <p:sldLayoutId id="2147484403" r:id="rId5"/>
    <p:sldLayoutId id="2147484404" r:id="rId6"/>
    <p:sldLayoutId id="2147484407" r:id="rId7"/>
  </p:sldLayoutIdLst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hf sldNum="0" hdr="0" ftr="0" dt="0"/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342892" algn="ctr" rtl="0" eaLnBrk="1" fontAlgn="base" latinLnBrk="1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685783" algn="ctr" rtl="0" eaLnBrk="1" fontAlgn="base" latinLnBrk="1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028675" algn="ctr" rtl="0" eaLnBrk="1" fontAlgn="base" latinLnBrk="1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371566" algn="ctr" rtl="0" eaLnBrk="1" fontAlgn="base" latinLnBrk="1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257168" indent="-257168" algn="l" rtl="0" eaLnBrk="1" fontAlgn="base" latinLnBrk="1" hangingPunct="1">
        <a:lnSpc>
          <a:spcPct val="120000"/>
        </a:lnSpc>
        <a:spcBef>
          <a:spcPct val="20000"/>
        </a:spcBef>
        <a:spcAft>
          <a:spcPct val="0"/>
        </a:spcAft>
        <a:buFont typeface="Arial" charset="0"/>
        <a:buBlip>
          <a:blip r:embed="rId9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57199" indent="-214308" algn="l" rtl="0" eaLnBrk="1" fontAlgn="base" latinLnBrk="1" hangingPunct="1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rtl="0" eaLnBrk="1" fontAlgn="base" latinLnBrk="1" hangingPunct="1">
        <a:spcBef>
          <a:spcPct val="20000"/>
        </a:spcBef>
        <a:spcAft>
          <a:spcPct val="0"/>
        </a:spcAft>
        <a:buFont typeface="Arial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rtl="0" eaLnBrk="1" fontAlgn="base" latinLnBrk="1" hangingPunct="1">
        <a:spcBef>
          <a:spcPct val="20000"/>
        </a:spcBef>
        <a:spcAft>
          <a:spcPct val="0"/>
        </a:spcAft>
        <a:buFont typeface="Arial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rtl="0" eaLnBrk="1" fontAlgn="base" latinLnBrk="1" hangingPunct="1">
        <a:spcBef>
          <a:spcPct val="20000"/>
        </a:spcBef>
        <a:spcAft>
          <a:spcPct val="0"/>
        </a:spcAft>
        <a:buFont typeface="Arial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medium.com/@RealityAI/model-driven-vs-data-driven-methods-for-working-with-sensors-and-signals-98fc6ac8cc92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-1500230" y="6211669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20000"/>
              <a:buFontTx/>
              <a:buNone/>
              <a:tabLst/>
              <a:defRPr/>
            </a:pPr>
            <a:endParaRPr kumimoji="1" lang="en-US" altLang="ko-KR" sz="1000" b="1" i="0" u="none" strike="noStrike" kern="1200" cap="none" spc="0" normalizeH="0" baseline="0" noProof="0" dirty="0">
              <a:ln w="1905"/>
              <a:solidFill>
                <a:prstClr val="black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uLnTx/>
              <a:uFillTx/>
              <a:latin typeface="맑은 고딕" pitchFamily="50" charset="-127"/>
              <a:ea typeface="맑은 고딕" pitchFamily="50" charset="-127"/>
              <a:cs typeface="한컴바탕" pitchFamily="18" charset="2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9BB292C-FBBD-4FCE-B33E-42235E69D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Naïve Bayesian – Review points</a:t>
            </a:r>
            <a:endParaRPr lang="ko-KR" altLang="en-US" dirty="0"/>
          </a:p>
        </p:txBody>
      </p:sp>
      <p:pic>
        <p:nvPicPr>
          <p:cNvPr id="4" name="녹음한 소리">
            <a:hlinkClick r:id="" action="ppaction://media"/>
            <a:extLst>
              <a:ext uri="{FF2B5EF4-FFF2-40B4-BE49-F238E27FC236}">
                <a16:creationId xmlns:a16="http://schemas.microsoft.com/office/drawing/2014/main" id="{F60DEBED-E3A0-49AC-AB88-8F72D203BEE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993757" y="389074"/>
            <a:ext cx="487363" cy="4873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00"/>
    </mc:Choice>
    <mc:Fallback xmlns=""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15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02AC1B-9C17-4899-A3FA-12F4113F6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Naïve Bayesian </a:t>
            </a:r>
            <a:r>
              <a:rPr lang="ko-KR" altLang="en-US" dirty="0"/>
              <a:t>의 전제 조건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8685DE-7D52-4AE1-BF77-C2B49498C2F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Data </a:t>
            </a:r>
            <a:r>
              <a:rPr lang="ko-KR" altLang="en-US" dirty="0"/>
              <a:t>에 대한 가정</a:t>
            </a:r>
            <a:endParaRPr lang="en-US" altLang="ko-KR" dirty="0"/>
          </a:p>
          <a:p>
            <a:pPr lvl="1"/>
            <a:r>
              <a:rPr lang="ko-KR" altLang="en-US" dirty="0"/>
              <a:t>예측 변수 들 간의 독립성 </a:t>
            </a:r>
            <a:r>
              <a:rPr lang="en-US" altLang="ko-KR" dirty="0"/>
              <a:t>– </a:t>
            </a:r>
            <a:r>
              <a:rPr lang="ko-KR" altLang="en-US" dirty="0"/>
              <a:t>상관관계가 크다면 예측 확률이 부정확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 해결책</a:t>
            </a:r>
            <a:r>
              <a:rPr lang="en-US" altLang="ko-KR" dirty="0">
                <a:sym typeface="Wingdings" panose="05000000000000000000" pitchFamily="2" charset="2"/>
              </a:rPr>
              <a:t>- Bayesian , Belief network </a:t>
            </a:r>
            <a:r>
              <a:rPr lang="ko-KR" altLang="en-US" dirty="0">
                <a:sym typeface="Wingdings" panose="05000000000000000000" pitchFamily="2" charset="2"/>
              </a:rPr>
              <a:t>등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수치형 변수의 분포 가정 </a:t>
            </a:r>
            <a:r>
              <a:rPr lang="en-US" altLang="ko-KR" dirty="0">
                <a:sym typeface="Wingdings" panose="05000000000000000000" pitchFamily="2" charset="2"/>
              </a:rPr>
              <a:t>– </a:t>
            </a:r>
            <a:r>
              <a:rPr lang="ko-KR" altLang="en-US" dirty="0">
                <a:sym typeface="Wingdings" panose="05000000000000000000" pitchFamily="2" charset="2"/>
              </a:rPr>
              <a:t>분포 모델을 정규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분포 등으로 가정할 경우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데이터의 클래스내 분포 모델을 테스트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이러한 가정들이 전제 되어야 하므로 많이 사용 되지는 않음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예측에 대한 이론적인 토대로서의 의미가 있음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참고로 결정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나무에서는  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Data </a:t>
            </a:r>
            <a:r>
              <a:rPr lang="ko-KR" altLang="en-US" dirty="0">
                <a:sym typeface="Wingdings" panose="05000000000000000000" pitchFamily="2" charset="2"/>
              </a:rPr>
              <a:t>에 대한 가정 없음</a:t>
            </a:r>
            <a:endParaRPr lang="en-US" altLang="ko-K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671280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02AC1B-9C17-4899-A3FA-12F4113F6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ym typeface="Wingdings" panose="05000000000000000000" pitchFamily="2" charset="2"/>
              </a:rPr>
              <a:t>Model driven vs Data driven approach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8685DE-7D52-4AE1-BF77-C2B49498C2F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>
                <a:sym typeface="Wingdings" panose="05000000000000000000" pitchFamily="2" charset="2"/>
              </a:rPr>
              <a:t>Model driven vs Data driven 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>
                <a:sym typeface="Wingdings" panose="05000000000000000000" pitchFamily="2" charset="2"/>
                <a:hlinkClick r:id="rId2"/>
              </a:rPr>
              <a:t>https://medium.com/@RealityAI/model-driven-vs-data-driven-methods-for-working-with-sensors-and-signals-98fc6ac8cc92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Model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driven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Data </a:t>
            </a:r>
            <a:r>
              <a:rPr lang="ko-KR" altLang="en-US" dirty="0">
                <a:sym typeface="Wingdings" panose="05000000000000000000" pitchFamily="2" charset="2"/>
              </a:rPr>
              <a:t>또는 패턴 를 예상 하여 모델을 생성하여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모델과 실제 발생한 </a:t>
            </a:r>
            <a:r>
              <a:rPr lang="en-US" altLang="ko-KR" dirty="0">
                <a:sym typeface="Wingdings" panose="05000000000000000000" pitchFamily="2" charset="2"/>
              </a:rPr>
              <a:t>Data</a:t>
            </a:r>
            <a:r>
              <a:rPr lang="ko-KR" altLang="en-US" dirty="0">
                <a:sym typeface="Wingdings" panose="05000000000000000000" pitchFamily="2" charset="2"/>
              </a:rPr>
              <a:t>의 관계를 분석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통계학에서의 접근 방법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Data driven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Data</a:t>
            </a:r>
            <a:r>
              <a:rPr lang="ko-KR" altLang="en-US" dirty="0">
                <a:sym typeface="Wingdings" panose="05000000000000000000" pitchFamily="2" charset="2"/>
              </a:rPr>
              <a:t>에 패턴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연관성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예상할 수 없었던</a:t>
            </a:r>
            <a:r>
              <a:rPr lang="en-US" altLang="ko-KR" dirty="0">
                <a:sym typeface="Wingdings" panose="05000000000000000000" pitchFamily="2" charset="2"/>
              </a:rPr>
              <a:t>) </a:t>
            </a:r>
            <a:r>
              <a:rPr lang="ko-KR" altLang="en-US" dirty="0">
                <a:sym typeface="Wingdings" panose="05000000000000000000" pitchFamily="2" charset="2"/>
              </a:rPr>
              <a:t>을 발견 할 수 있는 알고리즘을 적용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기계학습에서의 접근 방법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많은 양의 데이터 필요  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43644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7D1A22-D33E-49C7-BF8B-EFBEF86E5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39C3F3-024C-4427-8D69-57C2B0E41CD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두 변수 </a:t>
            </a:r>
            <a:r>
              <a:rPr lang="en-US" altLang="ko-KR" dirty="0"/>
              <a:t>A, B</a:t>
            </a:r>
            <a:r>
              <a:rPr lang="ko-KR" altLang="en-US" dirty="0"/>
              <a:t> 간의 독립에 필요 조건 </a:t>
            </a:r>
            <a:r>
              <a:rPr lang="en-US" altLang="ko-KR" dirty="0"/>
              <a:t>– </a:t>
            </a:r>
            <a:r>
              <a:rPr lang="ko-KR" altLang="en-US" dirty="0"/>
              <a:t>확률이론 </a:t>
            </a:r>
            <a:endParaRPr lang="en-US" altLang="ko-KR" dirty="0"/>
          </a:p>
          <a:p>
            <a:pPr lvl="1"/>
            <a:r>
              <a:rPr lang="en-US" altLang="ko-KR" dirty="0"/>
              <a:t>P(A and B) == P(A) * P(B) </a:t>
            </a:r>
            <a:r>
              <a:rPr lang="en-US" altLang="ko-KR" dirty="0">
                <a:sym typeface="Wingdings" panose="05000000000000000000" pitchFamily="2" charset="2"/>
              </a:rPr>
              <a:t> A, B </a:t>
            </a:r>
            <a:r>
              <a:rPr lang="ko-KR" altLang="en-US" dirty="0">
                <a:sym typeface="Wingdings" panose="05000000000000000000" pitchFamily="2" charset="2"/>
              </a:rPr>
              <a:t>가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서로 무관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서로의 발생에 영향이 없음</a:t>
            </a:r>
            <a:endParaRPr lang="en-US" altLang="ko-KR" dirty="0"/>
          </a:p>
          <a:p>
            <a:r>
              <a:rPr lang="ko-KR" altLang="en-US" dirty="0"/>
              <a:t>만일</a:t>
            </a:r>
            <a:endParaRPr lang="en-US" altLang="ko-KR" dirty="0"/>
          </a:p>
          <a:p>
            <a:pPr lvl="1"/>
            <a:r>
              <a:rPr lang="en-US" altLang="ko-KR" dirty="0"/>
              <a:t>P(A and B) &gt; P(A) * P(B) </a:t>
            </a:r>
            <a:r>
              <a:rPr lang="en-US" altLang="ko-KR" dirty="0">
                <a:sym typeface="Wingdings" panose="05000000000000000000" pitchFamily="2" charset="2"/>
              </a:rPr>
              <a:t> A, B </a:t>
            </a:r>
            <a:r>
              <a:rPr lang="ko-KR" altLang="en-US" dirty="0">
                <a:sym typeface="Wingdings" panose="05000000000000000000" pitchFamily="2" charset="2"/>
              </a:rPr>
              <a:t>가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상호 촉진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/>
              <a:t>P(A and B) &lt; P(A) * P(B) </a:t>
            </a:r>
            <a:r>
              <a:rPr lang="en-US" altLang="ko-KR" dirty="0">
                <a:sym typeface="Wingdings" panose="05000000000000000000" pitchFamily="2" charset="2"/>
              </a:rPr>
              <a:t> A, B </a:t>
            </a:r>
            <a:r>
              <a:rPr lang="ko-KR" altLang="en-US" dirty="0">
                <a:sym typeface="Wingdings" panose="05000000000000000000" pitchFamily="2" charset="2"/>
              </a:rPr>
              <a:t>가 상호 억제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주의</a:t>
            </a:r>
            <a:r>
              <a:rPr lang="en-US" altLang="ko-KR" dirty="0">
                <a:sym typeface="Wingdings" panose="05000000000000000000" pitchFamily="2" charset="2"/>
              </a:rPr>
              <a:t>: Naïve Bayesian </a:t>
            </a:r>
            <a:r>
              <a:rPr lang="ko-KR" altLang="en-US" dirty="0">
                <a:sym typeface="Wingdings" panose="05000000000000000000" pitchFamily="2" charset="2"/>
              </a:rPr>
              <a:t>에서는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데이터가 클래스내에서의 독립함을 전제함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즉</a:t>
            </a:r>
            <a:r>
              <a:rPr lang="en-US" altLang="ko-KR" dirty="0">
                <a:sym typeface="Wingdings" panose="05000000000000000000" pitchFamily="2" charset="2"/>
              </a:rPr>
              <a:t>, P(A | Class = X) </a:t>
            </a:r>
            <a:r>
              <a:rPr lang="ko-KR" altLang="en-US" dirty="0">
                <a:sym typeface="Wingdings" panose="05000000000000000000" pitchFamily="2" charset="2"/>
              </a:rPr>
              <a:t>에 대한 독립성을 테스트 하여야 함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일반적인 독립 </a:t>
            </a:r>
            <a:r>
              <a:rPr lang="en-US" altLang="ko-KR" dirty="0">
                <a:sym typeface="Wingdings" panose="05000000000000000000" pitchFamily="2" charset="2"/>
              </a:rPr>
              <a:t>P(A) </a:t>
            </a:r>
            <a:r>
              <a:rPr lang="ko-KR" altLang="en-US" dirty="0">
                <a:sym typeface="Wingdings" panose="05000000000000000000" pitchFamily="2" charset="2"/>
              </a:rPr>
              <a:t>의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독립성이 아님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1611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22D50-35E1-4059-A37A-410B1D587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사전</a:t>
            </a:r>
            <a:r>
              <a:rPr lang="en-US" altLang="ko-KR" dirty="0"/>
              <a:t>-priori</a:t>
            </a:r>
            <a:r>
              <a:rPr lang="ko-KR" altLang="en-US" dirty="0"/>
              <a:t> </a:t>
            </a:r>
            <a:r>
              <a:rPr lang="en-US" altLang="ko-KR" dirty="0"/>
              <a:t>, </a:t>
            </a:r>
            <a:r>
              <a:rPr lang="ko-KR" altLang="en-US" dirty="0"/>
              <a:t>사후</a:t>
            </a:r>
            <a:r>
              <a:rPr lang="en-US" altLang="ko-KR" dirty="0"/>
              <a:t>-posteriori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FB4ADA-1F35-43E4-8971-405242E6C8BD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사전</a:t>
            </a:r>
            <a:endParaRPr lang="en-US" altLang="ko-KR" dirty="0"/>
          </a:p>
          <a:p>
            <a:pPr lvl="1"/>
            <a:r>
              <a:rPr lang="ko-KR" altLang="en-US" dirty="0"/>
              <a:t>데이터의 값을 보기 전 </a:t>
            </a:r>
            <a:endParaRPr lang="en-US" altLang="ko-KR" dirty="0"/>
          </a:p>
          <a:p>
            <a:pPr lvl="1"/>
            <a:r>
              <a:rPr lang="ko-KR" altLang="en-US" dirty="0"/>
              <a:t>사전 확률</a:t>
            </a:r>
            <a:r>
              <a:rPr lang="en-US" altLang="ko-KR" dirty="0"/>
              <a:t>-priori probability </a:t>
            </a:r>
            <a:r>
              <a:rPr lang="ko-KR" altLang="en-US" dirty="0"/>
              <a:t>이란</a:t>
            </a:r>
            <a:endParaRPr lang="en-US" altLang="ko-KR" dirty="0"/>
          </a:p>
          <a:p>
            <a:pPr lvl="2"/>
            <a:r>
              <a:rPr lang="ko-KR" altLang="en-US" dirty="0"/>
              <a:t>예측</a:t>
            </a:r>
            <a:r>
              <a:rPr lang="en-US" altLang="ko-KR" dirty="0"/>
              <a:t> </a:t>
            </a:r>
            <a:r>
              <a:rPr lang="ko-KR" altLang="en-US" dirty="0"/>
              <a:t>변수의 값에 무관하게 레코드가 </a:t>
            </a:r>
            <a:r>
              <a:rPr lang="en-US" altLang="ko-KR" dirty="0"/>
              <a:t>class C</a:t>
            </a:r>
            <a:r>
              <a:rPr lang="ko-KR" altLang="en-US" dirty="0"/>
              <a:t> 에 속할 확률</a:t>
            </a:r>
            <a:endParaRPr lang="en-US" altLang="ko-KR" dirty="0"/>
          </a:p>
          <a:p>
            <a:pPr lvl="2"/>
            <a:r>
              <a:rPr lang="ko-KR" altLang="en-US" dirty="0"/>
              <a:t>테스트</a:t>
            </a:r>
            <a:r>
              <a:rPr lang="en-US" altLang="ko-KR" dirty="0"/>
              <a:t> </a:t>
            </a:r>
            <a:r>
              <a:rPr lang="ko-KR" altLang="en-US" dirty="0"/>
              <a:t>셋의 </a:t>
            </a:r>
            <a:r>
              <a:rPr lang="en-US" altLang="ko-KR" dirty="0"/>
              <a:t>class C</a:t>
            </a:r>
            <a:r>
              <a:rPr lang="ko-KR" altLang="en-US" dirty="0"/>
              <a:t> 의 비율과 같다</a:t>
            </a:r>
            <a:r>
              <a:rPr lang="en-US" altLang="ko-KR" dirty="0"/>
              <a:t>. 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사후</a:t>
            </a:r>
            <a:endParaRPr lang="en-US" altLang="ko-KR" dirty="0"/>
          </a:p>
          <a:p>
            <a:pPr lvl="1"/>
            <a:r>
              <a:rPr lang="ko-KR" altLang="en-US" dirty="0"/>
              <a:t>데이터의 값을 보고 난 후</a:t>
            </a:r>
            <a:endParaRPr lang="en-US" altLang="ko-KR" dirty="0"/>
          </a:p>
          <a:p>
            <a:pPr lvl="1"/>
            <a:r>
              <a:rPr lang="ko-KR" altLang="en-US" dirty="0"/>
              <a:t>사후 확률</a:t>
            </a:r>
            <a:r>
              <a:rPr lang="en-US" altLang="ko-KR" dirty="0"/>
              <a:t>-posteriori</a:t>
            </a:r>
            <a:r>
              <a:rPr lang="ko-KR" altLang="en-US" dirty="0"/>
              <a:t> 이란</a:t>
            </a:r>
            <a:endParaRPr lang="en-US" altLang="ko-KR" dirty="0"/>
          </a:p>
          <a:p>
            <a:pPr lvl="2"/>
            <a:r>
              <a:rPr lang="ko-KR" altLang="en-US" dirty="0"/>
              <a:t>예측 변수의 값에 의거하여 계산한 레코드가 </a:t>
            </a:r>
            <a:r>
              <a:rPr lang="en-US" altLang="ko-KR" dirty="0"/>
              <a:t>class C</a:t>
            </a:r>
            <a:r>
              <a:rPr lang="ko-KR" altLang="en-US" dirty="0"/>
              <a:t> 에 속할 확률</a:t>
            </a:r>
            <a:endParaRPr lang="en-US" altLang="ko-KR" dirty="0"/>
          </a:p>
          <a:p>
            <a:pPr lvl="2"/>
            <a:r>
              <a:rPr lang="ko-KR" altLang="en-US" dirty="0"/>
              <a:t> 베이지안 모델이 계산해 낸 확률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84239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A33EB0-88F4-4F1F-99DB-52458CF10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Likelihood-</a:t>
            </a:r>
            <a:r>
              <a:rPr lang="ko-KR" altLang="en-US" dirty="0"/>
              <a:t>우도</a:t>
            </a:r>
            <a:r>
              <a:rPr lang="en-US" altLang="ko-KR" dirty="0"/>
              <a:t>, </a:t>
            </a:r>
            <a:r>
              <a:rPr lang="ko-KR" altLang="en-US" dirty="0"/>
              <a:t>가능도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F8D43D-F0A5-491E-AF5D-745FE055311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Likelihood</a:t>
            </a:r>
            <a:r>
              <a:rPr lang="ko-KR" altLang="en-US" dirty="0"/>
              <a:t> 란 </a:t>
            </a:r>
            <a:endParaRPr lang="en-US" altLang="ko-KR" dirty="0"/>
          </a:p>
          <a:p>
            <a:pPr lvl="1"/>
            <a:r>
              <a:rPr lang="ko-KR" altLang="en-US" dirty="0"/>
              <a:t>특정 가설에</a:t>
            </a:r>
            <a:r>
              <a:rPr lang="en-US" altLang="ko-KR" dirty="0"/>
              <a:t> </a:t>
            </a:r>
            <a:r>
              <a:rPr lang="ko-KR" altLang="en-US" dirty="0"/>
              <a:t>대한 측도</a:t>
            </a:r>
            <a:r>
              <a:rPr lang="en-US" altLang="ko-KR" dirty="0"/>
              <a:t>(= measure, </a:t>
            </a:r>
            <a:r>
              <a:rPr lang="ko-KR" altLang="en-US" dirty="0"/>
              <a:t>점수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서로</a:t>
            </a:r>
            <a:r>
              <a:rPr lang="en-US" altLang="ko-KR" dirty="0"/>
              <a:t> </a:t>
            </a:r>
            <a:r>
              <a:rPr lang="ko-KR" altLang="en-US" dirty="0"/>
              <a:t>다른 두 레코드</a:t>
            </a:r>
            <a:r>
              <a:rPr lang="en-US" altLang="ko-KR" dirty="0"/>
              <a:t>, </a:t>
            </a:r>
            <a:r>
              <a:rPr lang="ko-KR" altLang="en-US" dirty="0"/>
              <a:t>상황</a:t>
            </a:r>
            <a:r>
              <a:rPr lang="en-US" altLang="ko-KR" dirty="0"/>
              <a:t>, </a:t>
            </a:r>
            <a:r>
              <a:rPr lang="ko-KR" altLang="en-US" dirty="0"/>
              <a:t>식에서 계산된 </a:t>
            </a:r>
            <a:r>
              <a:rPr lang="en-US" altLang="ko-KR" dirty="0"/>
              <a:t>likelihood </a:t>
            </a:r>
            <a:r>
              <a:rPr lang="ko-KR" altLang="en-US" dirty="0"/>
              <a:t>는 </a:t>
            </a:r>
            <a:r>
              <a:rPr lang="en-US" altLang="ko-KR" dirty="0"/>
              <a:t>scale </a:t>
            </a:r>
            <a:r>
              <a:rPr lang="ko-KR" altLang="en-US" dirty="0"/>
              <a:t>이 다를 수 있으므로 비교 할 수 없다</a:t>
            </a:r>
            <a:r>
              <a:rPr lang="en-US" altLang="ko-KR" dirty="0"/>
              <a:t>. 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확률의 경우 </a:t>
            </a:r>
            <a:endParaRPr lang="en-US" altLang="ko-KR" dirty="0"/>
          </a:p>
          <a:p>
            <a:pPr lvl="1"/>
            <a:r>
              <a:rPr lang="en-US" altLang="ko-KR" dirty="0"/>
              <a:t>Likelihood </a:t>
            </a:r>
            <a:r>
              <a:rPr lang="ko-KR" altLang="en-US" dirty="0"/>
              <a:t>를 </a:t>
            </a:r>
            <a:r>
              <a:rPr lang="en-US" altLang="ko-KR" dirty="0"/>
              <a:t>[0, 1] </a:t>
            </a:r>
            <a:r>
              <a:rPr lang="ko-KR" altLang="en-US" dirty="0"/>
              <a:t>범위로</a:t>
            </a:r>
            <a:r>
              <a:rPr lang="en-US" altLang="ko-KR" dirty="0"/>
              <a:t> scale </a:t>
            </a:r>
            <a:r>
              <a:rPr lang="ko-KR" altLang="en-US" dirty="0"/>
              <a:t>한</a:t>
            </a:r>
            <a:r>
              <a:rPr lang="en-US" altLang="ko-KR" dirty="0"/>
              <a:t> </a:t>
            </a:r>
            <a:r>
              <a:rPr lang="ko-KR" altLang="en-US" dirty="0"/>
              <a:t>것이므로 다른 상황</a:t>
            </a:r>
            <a:r>
              <a:rPr lang="en-US" altLang="ko-KR" dirty="0"/>
              <a:t>, </a:t>
            </a:r>
            <a:r>
              <a:rPr lang="ko-KR" altLang="en-US" dirty="0"/>
              <a:t>식에서 계산된 확률은 비교가 가능하다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베이지안</a:t>
            </a:r>
            <a:r>
              <a:rPr lang="en-US" altLang="ko-KR" dirty="0"/>
              <a:t> </a:t>
            </a:r>
            <a:r>
              <a:rPr lang="ko-KR" altLang="en-US" dirty="0"/>
              <a:t>식의 분자 </a:t>
            </a:r>
            <a:r>
              <a:rPr lang="en-US" altLang="ko-KR" dirty="0"/>
              <a:t>= likelihood</a:t>
            </a:r>
          </a:p>
          <a:p>
            <a:pPr lvl="1"/>
            <a:r>
              <a:rPr lang="ko-KR" altLang="en-US" dirty="0"/>
              <a:t>베이지안 식에서 동일한 레코드가 </a:t>
            </a:r>
            <a:r>
              <a:rPr lang="en-US" altLang="ko-KR" dirty="0"/>
              <a:t>class c1, c2 </a:t>
            </a:r>
            <a:r>
              <a:rPr lang="ko-KR" altLang="en-US" dirty="0"/>
              <a:t>에 속할 </a:t>
            </a:r>
            <a:r>
              <a:rPr lang="en-US" altLang="ko-KR" dirty="0"/>
              <a:t>likelihood </a:t>
            </a:r>
            <a:r>
              <a:rPr lang="ko-KR" altLang="en-US" dirty="0"/>
              <a:t>는</a:t>
            </a:r>
            <a:r>
              <a:rPr lang="en-US" altLang="ko-KR" dirty="0"/>
              <a:t> </a:t>
            </a:r>
            <a:r>
              <a:rPr lang="ko-KR" altLang="en-US" dirty="0"/>
              <a:t>비교가능</a:t>
            </a:r>
            <a:endParaRPr lang="en-US" altLang="ko-KR" dirty="0"/>
          </a:p>
          <a:p>
            <a:pPr lvl="1"/>
            <a:r>
              <a:rPr lang="ko-KR" altLang="en-US" dirty="0"/>
              <a:t>분모로 나누어</a:t>
            </a:r>
            <a:r>
              <a:rPr lang="en-US" altLang="ko-KR" dirty="0"/>
              <a:t>(</a:t>
            </a:r>
            <a:r>
              <a:rPr lang="ko-KR" altLang="en-US" dirty="0"/>
              <a:t>즉</a:t>
            </a:r>
            <a:r>
              <a:rPr lang="en-US" altLang="ko-KR" dirty="0"/>
              <a:t>, scale </a:t>
            </a:r>
            <a:r>
              <a:rPr lang="ko-KR" altLang="en-US" dirty="0"/>
              <a:t>하여</a:t>
            </a:r>
            <a:r>
              <a:rPr lang="en-US" altLang="ko-KR" dirty="0"/>
              <a:t>) </a:t>
            </a:r>
            <a:r>
              <a:rPr lang="ko-KR" altLang="en-US" dirty="0"/>
              <a:t>확률로 계산함</a:t>
            </a:r>
            <a:r>
              <a:rPr lang="en-US" altLang="ko-KR" dirty="0"/>
              <a:t>. 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r>
              <a:rPr lang="ko-KR" altLang="en-US" dirty="0"/>
              <a:t>확률의 경우 서로 다른 두 레코드에 관련된 확률은 비교 가능함</a:t>
            </a:r>
            <a:r>
              <a:rPr lang="en-US" altLang="ko-KR"/>
              <a:t>. </a:t>
            </a:r>
            <a:r>
              <a:rPr lang="ko-KR" altLang="en-US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2913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DS202-template0907</Template>
  <TotalTime>32397</TotalTime>
  <Words>434</Words>
  <Application>Microsoft Office PowerPoint</Application>
  <PresentationFormat>화면 슬라이드 쇼(4:3)</PresentationFormat>
  <Paragraphs>49</Paragraphs>
  <Slides>6</Slides>
  <Notes>1</Notes>
  <HiddenSlides>0</HiddenSlides>
  <MMClips>1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굴림</vt:lpstr>
      <vt:lpstr>나눔손글씨 펜</vt:lpstr>
      <vt:lpstr>맑은 고딕</vt:lpstr>
      <vt:lpstr>한컴바탕</vt:lpstr>
      <vt:lpstr>Arial</vt:lpstr>
      <vt:lpstr>Tahoma</vt:lpstr>
      <vt:lpstr>Wingdings</vt:lpstr>
      <vt:lpstr>1_Office 테마</vt:lpstr>
      <vt:lpstr>Naïve Bayesian – Review points</vt:lpstr>
      <vt:lpstr>Naïve Bayesian 의 전제 조건</vt:lpstr>
      <vt:lpstr>Model driven vs Data driven approach</vt:lpstr>
      <vt:lpstr>독립</vt:lpstr>
      <vt:lpstr>사전-priori , 사후-posteriori </vt:lpstr>
      <vt:lpstr>Likelihood-우도, 가능도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데이터분석을 통한 고객관리전략</dc:title>
  <dc:creator>jslee</dc:creator>
  <cp:lastModifiedBy>JY Lee</cp:lastModifiedBy>
  <cp:revision>1442</cp:revision>
  <dcterms:created xsi:type="dcterms:W3CDTF">2008-03-11T01:10:59Z</dcterms:created>
  <dcterms:modified xsi:type="dcterms:W3CDTF">2022-04-05T15:01:55Z</dcterms:modified>
</cp:coreProperties>
</file>